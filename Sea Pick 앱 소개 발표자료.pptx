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3577B-A281-1B25-E24F-88842209F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91AC48-6A7C-DECB-FE8A-89A61092A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23331-CF65-BD71-ED7A-BE45BFF99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3B96A-644C-3BF4-68A8-453B72CA968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105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B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947219E-A359-4CCE-A18D-E976E714A504}"/>
              </a:ext>
            </a:extLst>
          </p:cNvPr>
          <p:cNvSpPr>
            <a:spLocks noGrp="1"/>
          </p:cNvSpPr>
          <p:nvPr/>
        </p:nvSpPr>
        <p:spPr>
          <a:xfrm>
            <a:off x="571500" y="382905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600" b="1">
                <a:solidFill>
                  <a:srgbClr val="9DEFF0"/>
                </a:solidFill>
              </a:defRPr>
            </a:pPr>
            <a:r>
              <a:rPr sz="6600" b="1" dirty="0">
                <a:solidFill>
                  <a:srgbClr val="9DEFF0"/>
                </a:solidFill>
              </a:rPr>
              <a:t>SEA PICK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BF7AF0-0A21-4240-B051-F14572235E0E}"/>
              </a:ext>
            </a:extLst>
          </p:cNvPr>
          <p:cNvSpPr>
            <a:spLocks noGrp="1"/>
          </p:cNvSpPr>
          <p:nvPr/>
        </p:nvSpPr>
        <p:spPr>
          <a:xfrm>
            <a:off x="571500" y="4038600"/>
            <a:ext cx="5905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4350" b="1">
                <a:solidFill>
                  <a:srgbClr val="FFFFFF"/>
                </a:solidFill>
              </a:defRPr>
            </a:pPr>
            <a:r>
              <a:rPr lang="ko-KR" altLang="en-US" sz="1400" b="1" dirty="0">
                <a:solidFill>
                  <a:srgbClr val="FFFFFF"/>
                </a:solidFill>
              </a:rPr>
              <a:t>오늘</a:t>
            </a:r>
            <a:r>
              <a:rPr lang="en-US" altLang="ko-KR" sz="1400" b="1" dirty="0">
                <a:solidFill>
                  <a:srgbClr val="FFFFFF"/>
                </a:solidFill>
              </a:rPr>
              <a:t>, </a:t>
            </a:r>
            <a:r>
              <a:rPr lang="ko-KR" altLang="en-US" sz="1400" b="1" dirty="0">
                <a:solidFill>
                  <a:srgbClr val="FFFFFF"/>
                </a:solidFill>
              </a:rPr>
              <a:t>어떤 바다를 고를까요</a:t>
            </a:r>
            <a:r>
              <a:rPr lang="en-US" altLang="ko-KR" sz="14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510031D-B173-4B32-A33A-E7E73ACB1E3F}"/>
              </a:ext>
            </a:extLst>
          </p:cNvPr>
          <p:cNvSpPr>
            <a:spLocks noGrp="1"/>
          </p:cNvSpPr>
          <p:nvPr/>
        </p:nvSpPr>
        <p:spPr>
          <a:xfrm>
            <a:off x="628650" y="647700"/>
            <a:ext cx="600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0">
                <a:solidFill>
                  <a:srgbClr val="D6F4F5"/>
                </a:solidFill>
              </a:defRPr>
            </a:pPr>
            <a:r>
              <a:rPr sz="1800" b="0" dirty="0" err="1">
                <a:solidFill>
                  <a:srgbClr val="D6F4F5"/>
                </a:solidFill>
              </a:rPr>
              <a:t>실시간</a:t>
            </a:r>
            <a:r>
              <a:rPr sz="1800" b="0" dirty="0">
                <a:solidFill>
                  <a:srgbClr val="D6F4F5"/>
                </a:solidFill>
              </a:rPr>
              <a:t> </a:t>
            </a:r>
            <a:r>
              <a:rPr sz="1800" b="0" dirty="0" err="1">
                <a:solidFill>
                  <a:srgbClr val="D6F4F5"/>
                </a:solidFill>
              </a:rPr>
              <a:t>해양</a:t>
            </a:r>
            <a:r>
              <a:rPr sz="1800" b="0" dirty="0">
                <a:solidFill>
                  <a:srgbClr val="D6F4F5"/>
                </a:solidFill>
              </a:rPr>
              <a:t> </a:t>
            </a:r>
            <a:r>
              <a:rPr sz="1800" b="0" dirty="0" err="1">
                <a:solidFill>
                  <a:srgbClr val="D6F4F5"/>
                </a:solidFill>
              </a:rPr>
              <a:t>정보와</a:t>
            </a:r>
            <a:r>
              <a:rPr sz="1800" b="0" dirty="0">
                <a:solidFill>
                  <a:srgbClr val="D6F4F5"/>
                </a:solidFill>
              </a:rPr>
              <a:t> </a:t>
            </a:r>
            <a:r>
              <a:rPr sz="1800" b="0" dirty="0" err="1">
                <a:solidFill>
                  <a:srgbClr val="D6F4F5"/>
                </a:solidFill>
              </a:rPr>
              <a:t>주변</a:t>
            </a:r>
            <a:r>
              <a:rPr sz="1800" b="0" dirty="0">
                <a:solidFill>
                  <a:srgbClr val="D6F4F5"/>
                </a:solidFill>
              </a:rPr>
              <a:t> </a:t>
            </a:r>
            <a:r>
              <a:rPr sz="1800" b="0" dirty="0" err="1">
                <a:solidFill>
                  <a:srgbClr val="D6F4F5"/>
                </a:solidFill>
              </a:rPr>
              <a:t>편의시설을</a:t>
            </a:r>
            <a:r>
              <a:rPr sz="1800" b="0" dirty="0">
                <a:solidFill>
                  <a:srgbClr val="D6F4F5"/>
                </a:solidFill>
              </a:rPr>
              <a:t> 한 </a:t>
            </a:r>
            <a:r>
              <a:rPr sz="1800" b="0" dirty="0" err="1">
                <a:solidFill>
                  <a:srgbClr val="D6F4F5"/>
                </a:solidFill>
              </a:rPr>
              <a:t>번에</a:t>
            </a:r>
            <a:r>
              <a:rPr sz="1800" b="0" dirty="0">
                <a:solidFill>
                  <a:srgbClr val="D6F4F5"/>
                </a:solidFill>
              </a:rPr>
              <a:t> </a:t>
            </a:r>
            <a:r>
              <a:rPr sz="1800" b="0" dirty="0" err="1">
                <a:solidFill>
                  <a:srgbClr val="D6F4F5"/>
                </a:solidFill>
              </a:rPr>
              <a:t>추천</a:t>
            </a:r>
            <a:r>
              <a:rPr lang="ko-KR" altLang="en-US" sz="1800" b="0" dirty="0">
                <a:solidFill>
                  <a:srgbClr val="D6F4F5"/>
                </a:solidFill>
              </a:rPr>
              <a:t>해주</a:t>
            </a:r>
            <a:r>
              <a:rPr sz="1800" b="0" dirty="0">
                <a:solidFill>
                  <a:srgbClr val="D6F4F5"/>
                </a:solidFill>
              </a:rPr>
              <a:t>는</a:t>
            </a:r>
          </a:p>
          <a:p>
            <a:pPr>
              <a:defRPr sz="1800" b="0">
                <a:solidFill>
                  <a:srgbClr val="D6F4F5"/>
                </a:solidFill>
              </a:defRPr>
            </a:pPr>
            <a:r>
              <a:rPr sz="1800" b="0" dirty="0" err="1">
                <a:solidFill>
                  <a:srgbClr val="D6F4F5"/>
                </a:solidFill>
              </a:rPr>
              <a:t>부산</a:t>
            </a:r>
            <a:r>
              <a:rPr sz="1800" b="0" dirty="0">
                <a:solidFill>
                  <a:srgbClr val="D6F4F5"/>
                </a:solidFill>
              </a:rPr>
              <a:t> </a:t>
            </a:r>
            <a:r>
              <a:rPr sz="1800" b="0" dirty="0" err="1">
                <a:solidFill>
                  <a:srgbClr val="D6F4F5"/>
                </a:solidFill>
              </a:rPr>
              <a:t>해양</a:t>
            </a:r>
            <a:r>
              <a:rPr sz="1800" b="0" dirty="0">
                <a:solidFill>
                  <a:srgbClr val="D6F4F5"/>
                </a:solidFill>
              </a:rPr>
              <a:t> </a:t>
            </a:r>
            <a:r>
              <a:rPr sz="1800" b="0" dirty="0" err="1">
                <a:solidFill>
                  <a:srgbClr val="D6F4F5"/>
                </a:solidFill>
              </a:rPr>
              <a:t>레저</a:t>
            </a:r>
            <a:r>
              <a:rPr sz="1800" b="0" dirty="0">
                <a:solidFill>
                  <a:srgbClr val="D6F4F5"/>
                </a:solidFill>
              </a:rPr>
              <a:t> </a:t>
            </a:r>
            <a:r>
              <a:rPr sz="1800" b="0" dirty="0" err="1">
                <a:solidFill>
                  <a:srgbClr val="D6F4F5"/>
                </a:solidFill>
              </a:rPr>
              <a:t>플랫폼</a:t>
            </a:r>
            <a:endParaRPr sz="1800" b="0" dirty="0">
              <a:solidFill>
                <a:srgbClr val="D6F4F5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AC7551-DE55-4872-B040-FAFD02B631E4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1">
                <a:solidFill>
                  <a:srgbClr val="9DEFF0"/>
                </a:solidFill>
              </a:defRPr>
            </a:pPr>
            <a:r>
              <a:rPr sz="1200" b="1">
                <a:solidFill>
                  <a:srgbClr val="9DEFF0"/>
                </a:solidFill>
              </a:rPr>
              <a:t>4반 3조  |  앱 시연 발표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FB060F-15B9-C777-383D-0CA4B1FE7D9E}"/>
              </a:ext>
            </a:extLst>
          </p:cNvPr>
          <p:cNvSpPr>
            <a:spLocks noGrp="1"/>
          </p:cNvSpPr>
          <p:nvPr/>
        </p:nvSpPr>
        <p:spPr>
          <a:xfrm>
            <a:off x="723900" y="56959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1">
                <a:solidFill>
                  <a:srgbClr val="9DEFF0"/>
                </a:solidFill>
              </a:defRPr>
            </a:pPr>
            <a:r>
              <a:rPr lang="ko-KR" altLang="en-US" sz="1200" b="1" dirty="0">
                <a:solidFill>
                  <a:srgbClr val="9DEFF0"/>
                </a:solidFill>
              </a:rPr>
              <a:t>조원 </a:t>
            </a:r>
            <a:r>
              <a:rPr lang="en-US" altLang="ko-KR" sz="1200" b="1" dirty="0">
                <a:solidFill>
                  <a:srgbClr val="9DEFF0"/>
                </a:solidFill>
              </a:rPr>
              <a:t>: </a:t>
            </a:r>
            <a:r>
              <a:rPr lang="ko-KR" altLang="en-US" sz="1200" b="1" dirty="0" err="1">
                <a:solidFill>
                  <a:srgbClr val="9DEFF0"/>
                </a:solidFill>
              </a:rPr>
              <a:t>주하윤</a:t>
            </a:r>
            <a:r>
              <a:rPr lang="en-US" altLang="ko-KR" sz="1200" b="1" dirty="0">
                <a:solidFill>
                  <a:srgbClr val="9DEFF0"/>
                </a:solidFill>
              </a:rPr>
              <a:t>, </a:t>
            </a:r>
            <a:r>
              <a:rPr lang="ko-KR" altLang="en-US" sz="1200" b="1" dirty="0">
                <a:solidFill>
                  <a:srgbClr val="9DEFF0"/>
                </a:solidFill>
              </a:rPr>
              <a:t>조현준</a:t>
            </a:r>
            <a:r>
              <a:rPr lang="en-US" altLang="ko-KR" sz="1200" b="1" dirty="0">
                <a:solidFill>
                  <a:srgbClr val="9DEFF0"/>
                </a:solidFill>
              </a:rPr>
              <a:t>, </a:t>
            </a:r>
            <a:r>
              <a:rPr lang="ko-KR" altLang="en-US" sz="1200" b="1" dirty="0" err="1">
                <a:solidFill>
                  <a:srgbClr val="9DEFF0"/>
                </a:solidFill>
              </a:rPr>
              <a:t>최나예</a:t>
            </a:r>
            <a:r>
              <a:rPr lang="en-US" altLang="ko-KR" sz="1200" b="1" dirty="0">
                <a:solidFill>
                  <a:srgbClr val="9DEFF0"/>
                </a:solidFill>
              </a:rPr>
              <a:t>,</a:t>
            </a:r>
            <a:r>
              <a:rPr lang="ko-KR" altLang="en-US" sz="1200" b="1" dirty="0">
                <a:solidFill>
                  <a:srgbClr val="9DEFF0"/>
                </a:solidFill>
              </a:rPr>
              <a:t> 차서현</a:t>
            </a:r>
            <a:endParaRPr sz="1200" b="1" dirty="0">
              <a:solidFill>
                <a:srgbClr val="9DEFF0"/>
              </a:solidFill>
            </a:endParaRPr>
          </a:p>
        </p:txBody>
      </p:sp>
      <p:pic>
        <p:nvPicPr>
          <p:cNvPr id="14" name="그림 13" descr="배경 제거된 마스코트">
            <a:extLst>
              <a:ext uri="{FF2B5EF4-FFF2-40B4-BE49-F238E27FC236}">
                <a16:creationId xmlns:a16="http://schemas.microsoft.com/office/drawing/2014/main" id="{8F43D52D-45AA-84BF-6101-E77DFBAD7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732" y="839011"/>
            <a:ext cx="5179977" cy="517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53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5A85F0B3-0227-438B-8224-9D3B32E4A75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078EAE"/>
                </a:solidFill>
              </a:defRPr>
            </a:pPr>
            <a:r>
              <a:rPr sz="1050" b="1">
                <a:solidFill>
                  <a:srgbClr val="078EAE"/>
                </a:solidFill>
              </a:rPr>
              <a:t>WHY SEA PICK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660165E-33B8-4114-8C72-6FC01050CF6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073B58"/>
                </a:solidFill>
              </a:defRPr>
            </a:pPr>
            <a:r>
              <a:rPr sz="2850" b="1" dirty="0" err="1">
                <a:solidFill>
                  <a:srgbClr val="073B58"/>
                </a:solidFill>
              </a:rPr>
              <a:t>바다에</a:t>
            </a:r>
            <a:r>
              <a:rPr sz="2850" b="1" dirty="0">
                <a:solidFill>
                  <a:srgbClr val="073B58"/>
                </a:solidFill>
              </a:rPr>
              <a:t> </a:t>
            </a:r>
            <a:r>
              <a:rPr sz="2850" b="1" dirty="0" err="1">
                <a:solidFill>
                  <a:srgbClr val="073B58"/>
                </a:solidFill>
              </a:rPr>
              <a:t>가기</a:t>
            </a:r>
            <a:r>
              <a:rPr sz="2850" b="1" dirty="0">
                <a:solidFill>
                  <a:srgbClr val="073B58"/>
                </a:solidFill>
              </a:rPr>
              <a:t> 전, </a:t>
            </a:r>
            <a:r>
              <a:rPr lang="ko-KR" altLang="en-US" sz="2850" b="1" dirty="0">
                <a:solidFill>
                  <a:srgbClr val="073B58"/>
                </a:solidFill>
              </a:rPr>
              <a:t>확인할 것들이 많이 </a:t>
            </a:r>
            <a:r>
              <a:rPr sz="2850" b="1" dirty="0" err="1">
                <a:solidFill>
                  <a:srgbClr val="073B58"/>
                </a:solidFill>
              </a:rPr>
              <a:t>있습니다</a:t>
            </a:r>
            <a:endParaRPr sz="2850" b="1" dirty="0">
              <a:solidFill>
                <a:srgbClr val="073B58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B805C5-98CB-4150-845C-4829325FD639}"/>
              </a:ext>
            </a:extLst>
          </p:cNvPr>
          <p:cNvSpPr>
            <a:spLocks noGrp="1"/>
          </p:cNvSpPr>
          <p:nvPr/>
        </p:nvSpPr>
        <p:spPr>
          <a:xfrm>
            <a:off x="9906000" y="4953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5B7386"/>
                </a:solidFill>
              </a:defRPr>
            </a:pPr>
            <a:r>
              <a:rPr sz="900" b="1">
                <a:solidFill>
                  <a:srgbClr val="5B7386"/>
                </a:solidFill>
              </a:rPr>
              <a:t>SEA PICK  |  02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1444D07-5723-48A3-8348-23B71FE3FC5D}"/>
              </a:ext>
            </a:extLst>
          </p:cNvPr>
          <p:cNvSpPr>
            <a:spLocks noGrp="1"/>
          </p:cNvSpPr>
          <p:nvPr/>
        </p:nvSpPr>
        <p:spPr>
          <a:xfrm>
            <a:off x="800100" y="2000250"/>
            <a:ext cx="3181350" cy="219075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9756435-A0DC-402A-AB9F-7DAED372C315}"/>
              </a:ext>
            </a:extLst>
          </p:cNvPr>
          <p:cNvSpPr>
            <a:spLocks noGrp="1"/>
          </p:cNvSpPr>
          <p:nvPr/>
        </p:nvSpPr>
        <p:spPr>
          <a:xfrm>
            <a:off x="1047750" y="2238375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100" b="1">
                <a:solidFill>
                  <a:srgbClr val="078EAE"/>
                </a:solidFill>
              </a:defRPr>
            </a:pPr>
            <a:r>
              <a:rPr sz="2100" b="1">
                <a:solidFill>
                  <a:srgbClr val="078EAE"/>
                </a:solidFill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49801A-ABFB-47B3-A38B-701DFC3692DE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073B58"/>
                </a:solidFill>
              </a:defRPr>
            </a:pPr>
            <a:r>
              <a:rPr sz="1875" b="1">
                <a:solidFill>
                  <a:srgbClr val="073B58"/>
                </a:solidFill>
              </a:rPr>
              <a:t>날씨 정보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D84C79B-E5B0-43D7-B467-163BD5B4EB49}"/>
              </a:ext>
            </a:extLst>
          </p:cNvPr>
          <p:cNvSpPr>
            <a:spLocks noGrp="1"/>
          </p:cNvSpPr>
          <p:nvPr/>
        </p:nvSpPr>
        <p:spPr>
          <a:xfrm>
            <a:off x="1047750" y="3276600"/>
            <a:ext cx="247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5B7386"/>
                </a:solidFill>
              </a:defRPr>
            </a:pPr>
            <a:r>
              <a:rPr sz="1350" b="0" dirty="0" err="1">
                <a:solidFill>
                  <a:srgbClr val="5B7386"/>
                </a:solidFill>
              </a:rPr>
              <a:t>파도·풍속·수온을</a:t>
            </a:r>
            <a:r>
              <a:rPr sz="1350" b="0" dirty="0">
                <a:solidFill>
                  <a:srgbClr val="5B7386"/>
                </a:solidFill>
              </a:rPr>
              <a:t> </a:t>
            </a:r>
            <a:r>
              <a:rPr sz="1350" b="0" dirty="0" err="1">
                <a:solidFill>
                  <a:srgbClr val="5B7386"/>
                </a:solidFill>
              </a:rPr>
              <a:t>따로</a:t>
            </a:r>
            <a:r>
              <a:rPr sz="1350" b="0" dirty="0">
                <a:solidFill>
                  <a:srgbClr val="5B7386"/>
                </a:solidFill>
              </a:rPr>
              <a:t> </a:t>
            </a:r>
            <a:endParaRPr lang="en-US" sz="1350" b="0" dirty="0">
              <a:solidFill>
                <a:srgbClr val="5B7386"/>
              </a:solidFill>
            </a:endParaRPr>
          </a:p>
          <a:p>
            <a:pPr>
              <a:defRPr sz="1350" b="0">
                <a:solidFill>
                  <a:srgbClr val="5B7386"/>
                </a:solidFill>
              </a:defRPr>
            </a:pPr>
            <a:r>
              <a:rPr sz="1350" b="0" dirty="0" err="1">
                <a:solidFill>
                  <a:srgbClr val="5B7386"/>
                </a:solidFill>
              </a:rPr>
              <a:t>해석해야</a:t>
            </a:r>
            <a:r>
              <a:rPr sz="1350" b="0" dirty="0">
                <a:solidFill>
                  <a:srgbClr val="5B7386"/>
                </a:solidFill>
              </a:rPr>
              <a:t> 함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D67E318-CD84-4F4D-A78A-7FF1FB8C1792}"/>
              </a:ext>
            </a:extLst>
          </p:cNvPr>
          <p:cNvSpPr>
            <a:spLocks noGrp="1"/>
          </p:cNvSpPr>
          <p:nvPr/>
        </p:nvSpPr>
        <p:spPr>
          <a:xfrm>
            <a:off x="4362450" y="2000250"/>
            <a:ext cx="3181350" cy="219075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B50035B-A2D5-4298-BE8B-5314255AB9A1}"/>
              </a:ext>
            </a:extLst>
          </p:cNvPr>
          <p:cNvSpPr>
            <a:spLocks noGrp="1"/>
          </p:cNvSpPr>
          <p:nvPr/>
        </p:nvSpPr>
        <p:spPr>
          <a:xfrm>
            <a:off x="4610100" y="2238375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100" b="1">
                <a:solidFill>
                  <a:srgbClr val="078EAE"/>
                </a:solidFill>
              </a:defRPr>
            </a:pPr>
            <a:r>
              <a:rPr sz="2100" b="1">
                <a:solidFill>
                  <a:srgbClr val="078EAE"/>
                </a:solidFill>
              </a:rPr>
              <a:t>02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CAE20A-3DD4-4A01-8ADB-53CF82ED132A}"/>
              </a:ext>
            </a:extLst>
          </p:cNvPr>
          <p:cNvSpPr>
            <a:spLocks noGrp="1"/>
          </p:cNvSpPr>
          <p:nvPr/>
        </p:nvSpPr>
        <p:spPr>
          <a:xfrm>
            <a:off x="4610100" y="27813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073B58"/>
                </a:solidFill>
              </a:defRPr>
            </a:pPr>
            <a:r>
              <a:rPr sz="1875" b="1">
                <a:solidFill>
                  <a:srgbClr val="073B58"/>
                </a:solidFill>
              </a:rPr>
              <a:t>장소 선택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5DE50E-2603-4222-A1E6-8BDB4BF59D4B}"/>
              </a:ext>
            </a:extLst>
          </p:cNvPr>
          <p:cNvSpPr>
            <a:spLocks noGrp="1"/>
          </p:cNvSpPr>
          <p:nvPr/>
        </p:nvSpPr>
        <p:spPr>
          <a:xfrm>
            <a:off x="4610100" y="3276600"/>
            <a:ext cx="247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5B7386"/>
                </a:solidFill>
              </a:defRPr>
            </a:pPr>
            <a:r>
              <a:rPr lang="ko-KR" altLang="en-US" sz="1350" b="0" dirty="0">
                <a:solidFill>
                  <a:srgbClr val="5B7386"/>
                </a:solidFill>
              </a:rPr>
              <a:t>어느 바다가 자신의 위치와 가깝고 편리한지 확인해야 함</a:t>
            </a:r>
            <a:endParaRPr sz="1350" b="0" dirty="0">
              <a:solidFill>
                <a:srgbClr val="5B7386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DD0BEA6-E049-4100-BA47-6EE1E8A1E375}"/>
              </a:ext>
            </a:extLst>
          </p:cNvPr>
          <p:cNvSpPr>
            <a:spLocks noGrp="1"/>
          </p:cNvSpPr>
          <p:nvPr/>
        </p:nvSpPr>
        <p:spPr>
          <a:xfrm>
            <a:off x="7924800" y="2000250"/>
            <a:ext cx="3181350" cy="219075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57CF17-C717-4BA5-B8A5-E19AE93DD710}"/>
              </a:ext>
            </a:extLst>
          </p:cNvPr>
          <p:cNvSpPr>
            <a:spLocks noGrp="1"/>
          </p:cNvSpPr>
          <p:nvPr/>
        </p:nvSpPr>
        <p:spPr>
          <a:xfrm>
            <a:off x="8172450" y="2238375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100" b="1">
                <a:solidFill>
                  <a:srgbClr val="078EAE"/>
                </a:solidFill>
              </a:defRPr>
            </a:pPr>
            <a:r>
              <a:rPr sz="2100" b="1">
                <a:solidFill>
                  <a:srgbClr val="078EAE"/>
                </a:solidFill>
              </a:rPr>
              <a:t>03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0D120E9-5215-4E4C-ABDD-8B4C10110A39}"/>
              </a:ext>
            </a:extLst>
          </p:cNvPr>
          <p:cNvSpPr>
            <a:spLocks noGrp="1"/>
          </p:cNvSpPr>
          <p:nvPr/>
        </p:nvSpPr>
        <p:spPr>
          <a:xfrm>
            <a:off x="8172450" y="27813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073B58"/>
                </a:solidFill>
              </a:defRPr>
            </a:pPr>
            <a:r>
              <a:rPr sz="1875" b="1">
                <a:solidFill>
                  <a:srgbClr val="073B58"/>
                </a:solidFill>
              </a:rPr>
              <a:t>현장 준비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0491A9-CC2D-4DF5-9CBE-5F7E427A4853}"/>
              </a:ext>
            </a:extLst>
          </p:cNvPr>
          <p:cNvSpPr>
            <a:spLocks noGrp="1"/>
          </p:cNvSpPr>
          <p:nvPr/>
        </p:nvSpPr>
        <p:spPr>
          <a:xfrm>
            <a:off x="8172450" y="3276600"/>
            <a:ext cx="247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5B7386"/>
                </a:solidFill>
              </a:defRPr>
            </a:pPr>
            <a:r>
              <a:rPr lang="ko-KR" altLang="en-US" sz="1350" b="0" dirty="0">
                <a:solidFill>
                  <a:srgbClr val="5B7386"/>
                </a:solidFill>
              </a:rPr>
              <a:t>레저 스포츠를 </a:t>
            </a:r>
            <a:r>
              <a:rPr lang="ko-KR" altLang="en-US" sz="1350" b="0" dirty="0" err="1">
                <a:solidFill>
                  <a:srgbClr val="5B7386"/>
                </a:solidFill>
              </a:rPr>
              <a:t>즐기기전에</a:t>
            </a:r>
            <a:r>
              <a:rPr lang="ko-KR" altLang="en-US" sz="1350" b="0" dirty="0">
                <a:solidFill>
                  <a:srgbClr val="5B7386"/>
                </a:solidFill>
              </a:rPr>
              <a:t> </a:t>
            </a:r>
            <a:endParaRPr lang="en-US" altLang="ko-KR" sz="1350" b="0" dirty="0">
              <a:solidFill>
                <a:srgbClr val="5B7386"/>
              </a:solidFill>
            </a:endParaRPr>
          </a:p>
          <a:p>
            <a:pPr>
              <a:defRPr sz="1350" b="0">
                <a:solidFill>
                  <a:srgbClr val="5B7386"/>
                </a:solidFill>
              </a:defRPr>
            </a:pPr>
            <a:r>
              <a:rPr lang="ko-KR" altLang="en-US" sz="1350" dirty="0">
                <a:solidFill>
                  <a:srgbClr val="5B7386"/>
                </a:solidFill>
              </a:rPr>
              <a:t>필요한 장비들을 </a:t>
            </a:r>
            <a:r>
              <a:rPr lang="ko-KR" altLang="en-US" sz="1350" dirty="0" err="1">
                <a:solidFill>
                  <a:srgbClr val="5B7386"/>
                </a:solidFill>
              </a:rPr>
              <a:t>대여해야함</a:t>
            </a:r>
            <a:endParaRPr sz="1350" b="0" dirty="0">
              <a:solidFill>
                <a:srgbClr val="5B7386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B0309A3-36F4-48A3-89EC-0AC147B95BD4}"/>
              </a:ext>
            </a:extLst>
          </p:cNvPr>
          <p:cNvSpPr>
            <a:spLocks noGrp="1"/>
          </p:cNvSpPr>
          <p:nvPr/>
        </p:nvSpPr>
        <p:spPr>
          <a:xfrm>
            <a:off x="800100" y="4857750"/>
            <a:ext cx="923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025" b="1">
                <a:solidFill>
                  <a:srgbClr val="073B58"/>
                </a:solidFill>
              </a:defRPr>
            </a:pPr>
            <a:r>
              <a:rPr sz="2025" b="1" dirty="0">
                <a:solidFill>
                  <a:srgbClr val="073B58"/>
                </a:solidFill>
              </a:rPr>
              <a:t>Sea </a:t>
            </a:r>
            <a:r>
              <a:rPr sz="2025" b="1" dirty="0" err="1">
                <a:solidFill>
                  <a:srgbClr val="073B58"/>
                </a:solidFill>
              </a:rPr>
              <a:t>Pick은</a:t>
            </a:r>
            <a:r>
              <a:rPr sz="2025" b="1" dirty="0">
                <a:solidFill>
                  <a:srgbClr val="073B58"/>
                </a:solidFill>
              </a:rPr>
              <a:t> “갈 수 </a:t>
            </a:r>
            <a:r>
              <a:rPr sz="2025" b="1" dirty="0" err="1">
                <a:solidFill>
                  <a:srgbClr val="073B58"/>
                </a:solidFill>
              </a:rPr>
              <a:t>있을까</a:t>
            </a:r>
            <a:r>
              <a:rPr sz="2025" b="1" dirty="0">
                <a:solidFill>
                  <a:srgbClr val="073B58"/>
                </a:solidFill>
              </a:rPr>
              <a:t>?”</a:t>
            </a:r>
            <a:r>
              <a:rPr sz="2025" b="1" dirty="0" err="1">
                <a:solidFill>
                  <a:srgbClr val="073B58"/>
                </a:solidFill>
              </a:rPr>
              <a:t>에서</a:t>
            </a:r>
            <a:r>
              <a:rPr sz="2025" b="1" dirty="0">
                <a:solidFill>
                  <a:srgbClr val="073B58"/>
                </a:solidFill>
              </a:rPr>
              <a:t> “</a:t>
            </a:r>
            <a:r>
              <a:rPr sz="2025" b="1" dirty="0" err="1">
                <a:solidFill>
                  <a:srgbClr val="073B58"/>
                </a:solidFill>
              </a:rPr>
              <a:t>여기로</a:t>
            </a:r>
            <a:r>
              <a:rPr sz="2025" b="1" dirty="0">
                <a:solidFill>
                  <a:srgbClr val="073B58"/>
                </a:solidFill>
              </a:rPr>
              <a:t> </a:t>
            </a:r>
            <a:r>
              <a:rPr sz="2025" b="1" dirty="0" err="1">
                <a:solidFill>
                  <a:srgbClr val="073B58"/>
                </a:solidFill>
              </a:rPr>
              <a:t>가자”까지의</a:t>
            </a:r>
            <a:r>
              <a:rPr sz="2025" b="1" dirty="0">
                <a:solidFill>
                  <a:srgbClr val="073B58"/>
                </a:solidFill>
              </a:rPr>
              <a:t> </a:t>
            </a:r>
            <a:r>
              <a:rPr sz="2025" b="1" dirty="0" err="1">
                <a:solidFill>
                  <a:srgbClr val="073B58"/>
                </a:solidFill>
              </a:rPr>
              <a:t>시간을</a:t>
            </a:r>
            <a:r>
              <a:rPr sz="2025" b="1" dirty="0">
                <a:solidFill>
                  <a:srgbClr val="073B58"/>
                </a:solidFill>
              </a:rPr>
              <a:t> </a:t>
            </a:r>
            <a:r>
              <a:rPr sz="2025" b="1" dirty="0" err="1">
                <a:solidFill>
                  <a:srgbClr val="073B58"/>
                </a:solidFill>
              </a:rPr>
              <a:t>줄입니다</a:t>
            </a:r>
            <a:r>
              <a:rPr sz="2025" b="1" dirty="0">
                <a:solidFill>
                  <a:srgbClr val="073B58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2309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43B870BC-2329-4E1F-AF7F-E43CE98C0C8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078EAE"/>
                </a:solidFill>
              </a:defRPr>
            </a:pPr>
            <a:r>
              <a:rPr sz="1050" b="1">
                <a:solidFill>
                  <a:srgbClr val="078EAE"/>
                </a:solidFill>
              </a:rPr>
              <a:t>SOLUTION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63385C-9247-45DA-99CE-54256E118619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073B58"/>
                </a:solidFill>
              </a:defRPr>
            </a:pPr>
            <a:r>
              <a:rPr sz="2850" b="1">
                <a:solidFill>
                  <a:srgbClr val="073B58"/>
                </a:solidFill>
              </a:rPr>
              <a:t>추천부터 현장 준비까지, 하나의 흐름으로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54C732F-931E-4501-98A6-052BCF07AFB0}"/>
              </a:ext>
            </a:extLst>
          </p:cNvPr>
          <p:cNvSpPr>
            <a:spLocks noGrp="1"/>
          </p:cNvSpPr>
          <p:nvPr/>
        </p:nvSpPr>
        <p:spPr>
          <a:xfrm>
            <a:off x="9906000" y="4953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5B7386"/>
                </a:solidFill>
              </a:defRPr>
            </a:pPr>
            <a:r>
              <a:rPr sz="900" b="1">
                <a:solidFill>
                  <a:srgbClr val="5B7386"/>
                </a:solidFill>
              </a:rPr>
              <a:t>SEA PICK  |  03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74306F1-BB55-45AC-8CD8-4B7415F1AB36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3048000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BEEE6F-7C5D-498F-903B-8A3D51069E1B}"/>
              </a:ext>
            </a:extLst>
          </p:cNvPr>
          <p:cNvSpPr>
            <a:spLocks noGrp="1"/>
          </p:cNvSpPr>
          <p:nvPr/>
        </p:nvSpPr>
        <p:spPr>
          <a:xfrm>
            <a:off x="1162050" y="241935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FF8E67"/>
                </a:solidFill>
              </a:defRPr>
            </a:pPr>
            <a:r>
              <a:rPr sz="1350" b="1">
                <a:solidFill>
                  <a:srgbClr val="FF8E67"/>
                </a:solidFill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71827C-8B1D-4F06-83C9-32A9D7498AA2}"/>
              </a:ext>
            </a:extLst>
          </p:cNvPr>
          <p:cNvSpPr>
            <a:spLocks noGrp="1"/>
          </p:cNvSpPr>
          <p:nvPr/>
        </p:nvSpPr>
        <p:spPr>
          <a:xfrm>
            <a:off x="1162050" y="28956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1">
                <a:solidFill>
                  <a:srgbClr val="073B58"/>
                </a:solidFill>
              </a:defRPr>
            </a:pPr>
            <a:r>
              <a:rPr sz="1800" b="1">
                <a:solidFill>
                  <a:srgbClr val="073B58"/>
                </a:solidFill>
              </a:rPr>
              <a:t>나에게 맞는 바다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E09BE44-C874-4E5B-81E3-28B43B71B287}"/>
              </a:ext>
            </a:extLst>
          </p:cNvPr>
          <p:cNvSpPr>
            <a:spLocks noGrp="1"/>
          </p:cNvSpPr>
          <p:nvPr/>
        </p:nvSpPr>
        <p:spPr>
          <a:xfrm>
            <a:off x="1162050" y="3448050"/>
            <a:ext cx="2343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5B7386"/>
                </a:solidFill>
              </a:defRPr>
            </a:pPr>
            <a:r>
              <a:rPr sz="1275" b="0">
                <a:solidFill>
                  <a:srgbClr val="5B7386"/>
                </a:solidFill>
              </a:rPr>
              <a:t>활동·거주지·현재 컨디션 반영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5875DA6-BF2B-4B93-AF71-F9A9DBFE3564}"/>
              </a:ext>
            </a:extLst>
          </p:cNvPr>
          <p:cNvSpPr>
            <a:spLocks noGrp="1"/>
          </p:cNvSpPr>
          <p:nvPr/>
        </p:nvSpPr>
        <p:spPr>
          <a:xfrm>
            <a:off x="4400550" y="2171700"/>
            <a:ext cx="3048000" cy="2381250"/>
          </a:xfrm>
          <a:prstGeom prst="roundRect">
            <a:avLst>
              <a:gd name="adj" fmla="val 7200"/>
            </a:avLst>
          </a:prstGeom>
          <a:solidFill>
            <a:srgbClr val="DFF7F8"/>
          </a:solidFill>
          <a:ln w="0">
            <a:solidFill>
              <a:srgbClr val="DFF7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E05460-32F3-4C33-B68E-90AA9A305377}"/>
              </a:ext>
            </a:extLst>
          </p:cNvPr>
          <p:cNvSpPr>
            <a:spLocks noGrp="1"/>
          </p:cNvSpPr>
          <p:nvPr/>
        </p:nvSpPr>
        <p:spPr>
          <a:xfrm>
            <a:off x="4686300" y="241935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FF8E67"/>
                </a:solidFill>
              </a:defRPr>
            </a:pPr>
            <a:r>
              <a:rPr sz="1350" b="1">
                <a:solidFill>
                  <a:srgbClr val="FF8E67"/>
                </a:solidFill>
              </a:rPr>
              <a:t>02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3E2D48-0A60-4CF0-ABF4-3A4BE3478050}"/>
              </a:ext>
            </a:extLst>
          </p:cNvPr>
          <p:cNvSpPr>
            <a:spLocks noGrp="1"/>
          </p:cNvSpPr>
          <p:nvPr/>
        </p:nvSpPr>
        <p:spPr>
          <a:xfrm>
            <a:off x="4686300" y="28956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1">
                <a:solidFill>
                  <a:srgbClr val="073B58"/>
                </a:solidFill>
              </a:defRPr>
            </a:pPr>
            <a:r>
              <a:rPr sz="1800" b="1">
                <a:solidFill>
                  <a:srgbClr val="073B58"/>
                </a:solidFill>
              </a:rPr>
              <a:t>현장 정보 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567A46-2063-45E8-B8CA-D98BABCF748A}"/>
              </a:ext>
            </a:extLst>
          </p:cNvPr>
          <p:cNvSpPr>
            <a:spLocks noGrp="1"/>
          </p:cNvSpPr>
          <p:nvPr/>
        </p:nvSpPr>
        <p:spPr>
          <a:xfrm>
            <a:off x="4686300" y="3448050"/>
            <a:ext cx="2343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5B7386"/>
                </a:solidFill>
              </a:defRPr>
            </a:pPr>
            <a:r>
              <a:rPr sz="1275" b="0">
                <a:solidFill>
                  <a:srgbClr val="5B7386"/>
                </a:solidFill>
              </a:rPr>
              <a:t>지도·렌탈샵·편의시설을 함께 제공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2E11CA7-425D-40EA-ACE0-12433AC7189B}"/>
              </a:ext>
            </a:extLst>
          </p:cNvPr>
          <p:cNvSpPr>
            <a:spLocks noGrp="1"/>
          </p:cNvSpPr>
          <p:nvPr/>
        </p:nvSpPr>
        <p:spPr>
          <a:xfrm>
            <a:off x="7924800" y="2171700"/>
            <a:ext cx="3048000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36F0E0-AF1B-4A2F-B45A-7ED5328C0508}"/>
              </a:ext>
            </a:extLst>
          </p:cNvPr>
          <p:cNvSpPr>
            <a:spLocks noGrp="1"/>
          </p:cNvSpPr>
          <p:nvPr/>
        </p:nvSpPr>
        <p:spPr>
          <a:xfrm>
            <a:off x="8210550" y="241935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FF8E67"/>
                </a:solidFill>
              </a:defRPr>
            </a:pPr>
            <a:r>
              <a:rPr sz="1350" b="1">
                <a:solidFill>
                  <a:srgbClr val="FF8E67"/>
                </a:solidFill>
              </a:rPr>
              <a:t>03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DE9F46-68CB-4648-9598-AB5AC4128AED}"/>
              </a:ext>
            </a:extLst>
          </p:cNvPr>
          <p:cNvSpPr>
            <a:spLocks noGrp="1"/>
          </p:cNvSpPr>
          <p:nvPr/>
        </p:nvSpPr>
        <p:spPr>
          <a:xfrm>
            <a:off x="8210550" y="28956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1">
                <a:solidFill>
                  <a:srgbClr val="073B58"/>
                </a:solidFill>
              </a:defRPr>
            </a:pPr>
            <a:r>
              <a:rPr sz="1800" b="1">
                <a:solidFill>
                  <a:srgbClr val="073B58"/>
                </a:solidFill>
              </a:rPr>
              <a:t>안전하게 출발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A6AE4F9-8B40-432A-94D3-1EF828A1DDB9}"/>
              </a:ext>
            </a:extLst>
          </p:cNvPr>
          <p:cNvSpPr>
            <a:spLocks noGrp="1"/>
          </p:cNvSpPr>
          <p:nvPr/>
        </p:nvSpPr>
        <p:spPr>
          <a:xfrm>
            <a:off x="8210550" y="3448050"/>
            <a:ext cx="2343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5B7386"/>
                </a:solidFill>
              </a:defRPr>
            </a:pPr>
            <a:r>
              <a:rPr sz="1275" b="0">
                <a:solidFill>
                  <a:srgbClr val="5B7386"/>
                </a:solidFill>
              </a:rPr>
              <a:t>OX 퀴즈와 기상 정보로 출발 전 점검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42C11E1-092A-42BF-98CF-30410F2524B4}"/>
              </a:ext>
            </a:extLst>
          </p:cNvPr>
          <p:cNvSpPr>
            <a:spLocks noGrp="1"/>
          </p:cNvSpPr>
          <p:nvPr/>
        </p:nvSpPr>
        <p:spPr>
          <a:xfrm>
            <a:off x="876300" y="5143500"/>
            <a:ext cx="762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250" b="1">
                <a:solidFill>
                  <a:srgbClr val="078EAE"/>
                </a:solidFill>
              </a:defRPr>
            </a:pPr>
            <a:r>
              <a:rPr sz="2250" b="1" dirty="0" err="1">
                <a:solidFill>
                  <a:srgbClr val="078EAE"/>
                </a:solidFill>
              </a:rPr>
              <a:t>정보를</a:t>
            </a:r>
            <a:r>
              <a:rPr sz="2250" b="1" dirty="0">
                <a:solidFill>
                  <a:srgbClr val="078EAE"/>
                </a:solidFill>
              </a:rPr>
              <a:t> </a:t>
            </a:r>
            <a:r>
              <a:rPr sz="2250" b="1" dirty="0" err="1">
                <a:solidFill>
                  <a:srgbClr val="078EAE"/>
                </a:solidFill>
              </a:rPr>
              <a:t>보여주</a:t>
            </a:r>
            <a:r>
              <a:rPr lang="ko-KR" altLang="en-US" sz="2250" b="1" dirty="0">
                <a:solidFill>
                  <a:srgbClr val="078EAE"/>
                </a:solidFill>
              </a:rPr>
              <a:t>기만하는 앱이 아닌</a:t>
            </a:r>
            <a:r>
              <a:rPr sz="2250" b="1" dirty="0">
                <a:solidFill>
                  <a:srgbClr val="078EAE"/>
                </a:solidFill>
              </a:rPr>
              <a:t>, </a:t>
            </a:r>
            <a:r>
              <a:rPr sz="2250" b="1" dirty="0" err="1">
                <a:solidFill>
                  <a:srgbClr val="078EAE"/>
                </a:solidFill>
              </a:rPr>
              <a:t>선택을</a:t>
            </a:r>
            <a:r>
              <a:rPr sz="2250" b="1" dirty="0">
                <a:solidFill>
                  <a:srgbClr val="078EAE"/>
                </a:solidFill>
              </a:rPr>
              <a:t> </a:t>
            </a:r>
            <a:r>
              <a:rPr sz="2250" b="1" dirty="0" err="1">
                <a:solidFill>
                  <a:srgbClr val="078EAE"/>
                </a:solidFill>
              </a:rPr>
              <a:t>돕는</a:t>
            </a:r>
            <a:r>
              <a:rPr sz="2250" b="1" dirty="0">
                <a:solidFill>
                  <a:srgbClr val="078EAE"/>
                </a:solidFill>
              </a:rPr>
              <a:t> 앱</a:t>
            </a:r>
          </a:p>
        </p:txBody>
      </p:sp>
    </p:spTree>
    <p:extLst>
      <p:ext uri="{BB962C8B-B14F-4D97-AF65-F5344CB8AC3E}">
        <p14:creationId xmlns:p14="http://schemas.microsoft.com/office/powerpoint/2010/main" val="2046685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A0F000C-28A2-4BC9-B2F8-14333BC9596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078EAE"/>
                </a:solidFill>
              </a:defRPr>
            </a:pPr>
            <a:r>
              <a:rPr sz="1050" b="1">
                <a:solidFill>
                  <a:srgbClr val="078EAE"/>
                </a:solidFill>
              </a:rPr>
              <a:t>DEMO 01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C6C967-CC1D-4E00-A184-D0967EDBA74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073B58"/>
                </a:solidFill>
              </a:defRPr>
            </a:pPr>
            <a:r>
              <a:rPr sz="2850" b="1" dirty="0">
                <a:solidFill>
                  <a:srgbClr val="073B58"/>
                </a:solidFill>
              </a:rPr>
              <a:t>첫 </a:t>
            </a:r>
            <a:r>
              <a:rPr sz="2850" b="1" dirty="0" err="1">
                <a:solidFill>
                  <a:srgbClr val="073B58"/>
                </a:solidFill>
              </a:rPr>
              <a:t>화면</a:t>
            </a:r>
            <a:r>
              <a:rPr lang="en-US" sz="2850" b="1" dirty="0">
                <a:solidFill>
                  <a:srgbClr val="073B58"/>
                </a:solidFill>
              </a:rPr>
              <a:t> </a:t>
            </a:r>
            <a:r>
              <a:rPr sz="2850" b="1" dirty="0">
                <a:solidFill>
                  <a:srgbClr val="073B58"/>
                </a:solidFill>
              </a:rPr>
              <a:t>:</a:t>
            </a:r>
            <a:r>
              <a:rPr lang="en-US" sz="2850" b="1" dirty="0">
                <a:solidFill>
                  <a:srgbClr val="073B58"/>
                </a:solidFill>
              </a:rPr>
              <a:t> </a:t>
            </a:r>
            <a:r>
              <a:rPr lang="ko-KR" altLang="en-US" sz="2850" b="1" dirty="0">
                <a:solidFill>
                  <a:srgbClr val="073B58"/>
                </a:solidFill>
              </a:rPr>
              <a:t>나만의 정보 입력</a:t>
            </a:r>
            <a:endParaRPr sz="2850" b="1" dirty="0">
              <a:solidFill>
                <a:srgbClr val="073B58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801726-E569-496B-A4EA-A3B89A577FB0}"/>
              </a:ext>
            </a:extLst>
          </p:cNvPr>
          <p:cNvSpPr>
            <a:spLocks noGrp="1"/>
          </p:cNvSpPr>
          <p:nvPr/>
        </p:nvSpPr>
        <p:spPr>
          <a:xfrm>
            <a:off x="9906000" y="4953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5B7386"/>
                </a:solidFill>
              </a:defRPr>
            </a:pPr>
            <a:r>
              <a:rPr sz="900" b="1">
                <a:solidFill>
                  <a:srgbClr val="5B7386"/>
                </a:solidFill>
              </a:rPr>
              <a:t>SEA PICK  |  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9E81E1-E158-4352-AFD4-87DEA5431021}"/>
              </a:ext>
            </a:extLst>
          </p:cNvPr>
          <p:cNvSpPr>
            <a:spLocks noGrp="1"/>
          </p:cNvSpPr>
          <p:nvPr/>
        </p:nvSpPr>
        <p:spPr>
          <a:xfrm>
            <a:off x="685800" y="2083430"/>
            <a:ext cx="4572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073B58"/>
                </a:solidFill>
              </a:defRPr>
            </a:pPr>
            <a:r>
              <a:rPr lang="ko-KR" altLang="en-US" sz="2400" b="1" dirty="0">
                <a:solidFill>
                  <a:srgbClr val="073B58"/>
                </a:solidFill>
              </a:rPr>
              <a:t>거주 지역과 </a:t>
            </a:r>
            <a:endParaRPr lang="en-US" altLang="ko-KR" sz="2400" b="1" dirty="0">
              <a:solidFill>
                <a:srgbClr val="073B58"/>
              </a:solidFill>
            </a:endParaRPr>
          </a:p>
          <a:p>
            <a:pPr>
              <a:defRPr sz="1875" b="1">
                <a:solidFill>
                  <a:srgbClr val="073B58"/>
                </a:solidFill>
              </a:defRPr>
            </a:pPr>
            <a:r>
              <a:rPr lang="ko-KR" altLang="en-US" sz="2400" b="1" dirty="0">
                <a:solidFill>
                  <a:srgbClr val="073B58"/>
                </a:solidFill>
              </a:rPr>
              <a:t>선호하는 해양 레저에 따라</a:t>
            </a:r>
            <a:endParaRPr lang="en-US" altLang="ko-KR" sz="2400" b="1" dirty="0">
              <a:solidFill>
                <a:srgbClr val="073B58"/>
              </a:solidFill>
            </a:endParaRPr>
          </a:p>
          <a:p>
            <a:pPr>
              <a:defRPr sz="1875" b="1">
                <a:solidFill>
                  <a:srgbClr val="073B58"/>
                </a:solidFill>
              </a:defRPr>
            </a:pPr>
            <a:r>
              <a:rPr lang="ko-KR" altLang="en-US" sz="2400" b="1" dirty="0">
                <a:solidFill>
                  <a:srgbClr val="073B58"/>
                </a:solidFill>
              </a:rPr>
              <a:t>추천 장소가 달라진다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23A8509-C4E8-436E-9BED-19A0472C9ECA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4953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5B7386"/>
                </a:solidFill>
              </a:defRPr>
            </a:pPr>
            <a:endParaRPr sz="1350" b="0" dirty="0">
              <a:solidFill>
                <a:srgbClr val="5B7386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D3FF850-61E6-186E-27D3-8E3AA374F0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68" t="13908" r="8467" b="7702"/>
          <a:stretch>
            <a:fillRect/>
          </a:stretch>
        </p:blipFill>
        <p:spPr>
          <a:xfrm>
            <a:off x="8498734" y="1175605"/>
            <a:ext cx="2629709" cy="471084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A4B4A88-BA37-8F21-9E20-BABB1A6690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51" r="3857"/>
          <a:stretch>
            <a:fillRect/>
          </a:stretch>
        </p:blipFill>
        <p:spPr>
          <a:xfrm>
            <a:off x="5521767" y="1175605"/>
            <a:ext cx="2558170" cy="469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21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B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61E201-DD84-FD20-77CB-C0CCEFD2E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6674A01-27AB-B946-C1AC-66C134B03DC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078EAE"/>
                </a:solidFill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78EAE"/>
                </a:solidFill>
                <a:effectLst/>
                <a:uLnTx/>
                <a:uFillTx/>
                <a:latin typeface="Calibri"/>
                <a:cs typeface="Calibri"/>
              </a:rPr>
              <a:t>DEMO 01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C3BFA53-AB4C-4710-B42B-CB2ACF3E7A2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50" b="1">
                <a:solidFill>
                  <a:srgbClr val="073B58"/>
                </a:solidFill>
              </a:defRPr>
            </a:pP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메인</a:t>
            </a:r>
            <a:r>
              <a:rPr kumimoji="0" sz="285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50" b="1" i="0" u="none" strike="noStrike" kern="1200" cap="none" spc="0" normalizeH="0" baseline="0" noProof="0" dirty="0" err="1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화면</a:t>
            </a:r>
            <a:r>
              <a:rPr kumimoji="0" sz="285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: </a:t>
            </a:r>
            <a:r>
              <a:rPr kumimoji="0" sz="2850" b="1" i="0" u="none" strike="noStrike" kern="1200" cap="none" spc="0" normalizeH="0" baseline="0" noProof="0" dirty="0" err="1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오늘의</a:t>
            </a:r>
            <a:r>
              <a:rPr kumimoji="0" sz="285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50" b="1" i="0" u="none" strike="noStrike" kern="1200" cap="none" spc="0" normalizeH="0" baseline="0" noProof="0" dirty="0" err="1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바다를</a:t>
            </a:r>
            <a:r>
              <a:rPr kumimoji="0" sz="285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50" b="1" i="0" u="none" strike="noStrike" kern="1200" cap="none" spc="0" normalizeH="0" baseline="0" noProof="0" dirty="0" err="1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빠르게</a:t>
            </a:r>
            <a:r>
              <a:rPr kumimoji="0" sz="285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선택</a:t>
            </a:r>
            <a:endParaRPr kumimoji="0" sz="2850" b="1" i="0" u="none" strike="noStrike" kern="1200" cap="none" spc="0" normalizeH="0" baseline="0" noProof="0" dirty="0">
              <a:ln>
                <a:noFill/>
              </a:ln>
              <a:solidFill>
                <a:srgbClr val="073B58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3A4C0FE-75FD-D4A7-DE18-F16E86324A59}"/>
              </a:ext>
            </a:extLst>
          </p:cNvPr>
          <p:cNvSpPr>
            <a:spLocks noGrp="1"/>
          </p:cNvSpPr>
          <p:nvPr/>
        </p:nvSpPr>
        <p:spPr>
          <a:xfrm>
            <a:off x="9906000" y="4953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5B7386"/>
                </a:solidFill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5B7386"/>
                </a:solidFill>
                <a:effectLst/>
                <a:uLnTx/>
                <a:uFillTx/>
                <a:latin typeface="Calibri"/>
                <a:cs typeface="Calibri"/>
              </a:rPr>
              <a:t>SEA PICK  |  04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BC654D2-693E-95EC-311E-F404CD3CBA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310"/>
          <a:stretch>
            <a:fillRect/>
          </a:stretch>
        </p:blipFill>
        <p:spPr>
          <a:xfrm>
            <a:off x="7877448" y="1238858"/>
            <a:ext cx="2861888" cy="4380284"/>
          </a:xfrm>
          <a:prstGeom prst="roundRect">
            <a:avLst>
              <a:gd name="adj" fmla="val 2791"/>
            </a:avLst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CE969C7-B895-3C37-74BE-AEE7E0662DC7}"/>
              </a:ext>
            </a:extLst>
          </p:cNvPr>
          <p:cNvSpPr>
            <a:spLocks noGrp="1"/>
          </p:cNvSpPr>
          <p:nvPr/>
        </p:nvSpPr>
        <p:spPr>
          <a:xfrm>
            <a:off x="819150" y="20574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078EAE"/>
                </a:solidFill>
              </a:defRPr>
            </a:pP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srgbClr val="078EAE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E0253AB-706B-1531-4B08-72D123404177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4572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>
                <a:solidFill>
                  <a:srgbClr val="073B58"/>
                </a:solidFill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•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오늘의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날씨·강수량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73B58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>
                <a:solidFill>
                  <a:srgbClr val="073B58"/>
                </a:solidFill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•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실시간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적합도와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혼잡도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추정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73B58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>
                <a:solidFill>
                  <a:srgbClr val="073B58"/>
                </a:solidFill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•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서핑·카약·패들보드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맞춤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추천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73B58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>
                <a:solidFill>
                  <a:srgbClr val="073B58"/>
                </a:solidFill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•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지역·해변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73B58"/>
                </a:solidFill>
                <a:effectLst/>
                <a:uLnTx/>
                <a:uFillTx/>
                <a:latin typeface="Calibri"/>
                <a:cs typeface="Calibri"/>
              </a:rPr>
              <a:t>검색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73B58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989FA3-0124-8C15-A499-C6D3F8F15954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4953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5B7386"/>
                </a:solidFill>
              </a:defRPr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7386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7146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0999AD4D-CB05-4086-80C5-C425C6A9970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078EAE"/>
                </a:solidFill>
              </a:defRPr>
            </a:pPr>
            <a:r>
              <a:rPr sz="1050" b="1">
                <a:solidFill>
                  <a:srgbClr val="078EAE"/>
                </a:solidFill>
              </a:rPr>
              <a:t>DEMO 02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972AF7D-6A8F-499E-AD64-7A6DDE7890F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073B58"/>
                </a:solidFill>
              </a:defRPr>
            </a:pPr>
            <a:r>
              <a:rPr sz="2850" b="1" dirty="0" err="1">
                <a:solidFill>
                  <a:srgbClr val="073B58"/>
                </a:solidFill>
              </a:rPr>
              <a:t>장소를</a:t>
            </a:r>
            <a:r>
              <a:rPr sz="2850" b="1" dirty="0">
                <a:solidFill>
                  <a:srgbClr val="073B58"/>
                </a:solidFill>
              </a:rPr>
              <a:t> </a:t>
            </a:r>
            <a:r>
              <a:rPr lang="ko-KR" altLang="en-US" sz="2850" b="1" dirty="0">
                <a:solidFill>
                  <a:srgbClr val="073B58"/>
                </a:solidFill>
              </a:rPr>
              <a:t>클릭 시</a:t>
            </a:r>
            <a:r>
              <a:rPr sz="2850" b="1" dirty="0">
                <a:solidFill>
                  <a:srgbClr val="073B58"/>
                </a:solidFill>
              </a:rPr>
              <a:t>, </a:t>
            </a:r>
            <a:r>
              <a:rPr sz="2850" b="1" dirty="0" err="1">
                <a:solidFill>
                  <a:srgbClr val="073B58"/>
                </a:solidFill>
              </a:rPr>
              <a:t>출발</a:t>
            </a:r>
            <a:r>
              <a:rPr sz="2850" b="1" dirty="0">
                <a:solidFill>
                  <a:srgbClr val="073B58"/>
                </a:solidFill>
              </a:rPr>
              <a:t> 전 </a:t>
            </a:r>
            <a:r>
              <a:rPr sz="2850" b="1" dirty="0" err="1">
                <a:solidFill>
                  <a:srgbClr val="073B58"/>
                </a:solidFill>
              </a:rPr>
              <a:t>결정에</a:t>
            </a:r>
            <a:r>
              <a:rPr sz="2850" b="1" dirty="0">
                <a:solidFill>
                  <a:srgbClr val="073B58"/>
                </a:solidFill>
              </a:rPr>
              <a:t> </a:t>
            </a:r>
            <a:r>
              <a:rPr sz="2850" b="1" dirty="0" err="1">
                <a:solidFill>
                  <a:srgbClr val="073B58"/>
                </a:solidFill>
              </a:rPr>
              <a:t>필요한</a:t>
            </a:r>
            <a:r>
              <a:rPr sz="2850" b="1" dirty="0">
                <a:solidFill>
                  <a:srgbClr val="073B58"/>
                </a:solidFill>
              </a:rPr>
              <a:t> </a:t>
            </a:r>
            <a:r>
              <a:rPr sz="2850" b="1" dirty="0" err="1">
                <a:solidFill>
                  <a:srgbClr val="073B58"/>
                </a:solidFill>
              </a:rPr>
              <a:t>정보</a:t>
            </a:r>
            <a:r>
              <a:rPr lang="ko-KR" altLang="en-US" sz="2850" b="1" dirty="0">
                <a:solidFill>
                  <a:srgbClr val="073B58"/>
                </a:solidFill>
              </a:rPr>
              <a:t> 제공 </a:t>
            </a:r>
            <a:endParaRPr sz="2850" b="1" dirty="0">
              <a:solidFill>
                <a:srgbClr val="073B58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36F4AD5-4496-4504-8ADA-007E663A9890}"/>
              </a:ext>
            </a:extLst>
          </p:cNvPr>
          <p:cNvSpPr>
            <a:spLocks noGrp="1"/>
          </p:cNvSpPr>
          <p:nvPr/>
        </p:nvSpPr>
        <p:spPr>
          <a:xfrm>
            <a:off x="9906000" y="4953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5B7386"/>
                </a:solidFill>
              </a:defRPr>
            </a:pPr>
            <a:r>
              <a:rPr sz="900" b="1">
                <a:solidFill>
                  <a:srgbClr val="5B7386"/>
                </a:solidFill>
              </a:rPr>
              <a:t>SEA PICK  |  05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D7B2F1C-3ADC-47C5-9702-AA4A1B3BA267}"/>
              </a:ext>
            </a:extLst>
          </p:cNvPr>
          <p:cNvSpPr>
            <a:spLocks noGrp="1"/>
          </p:cNvSpPr>
          <p:nvPr/>
        </p:nvSpPr>
        <p:spPr>
          <a:xfrm>
            <a:off x="838200" y="1924050"/>
            <a:ext cx="49530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47446D-2946-4E40-86EF-7EBB2096BD53}"/>
              </a:ext>
            </a:extLst>
          </p:cNvPr>
          <p:cNvSpPr>
            <a:spLocks noGrp="1"/>
          </p:cNvSpPr>
          <p:nvPr/>
        </p:nvSpPr>
        <p:spPr>
          <a:xfrm>
            <a:off x="1104900" y="216217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 b="1">
                <a:solidFill>
                  <a:srgbClr val="078EAE"/>
                </a:solidFill>
              </a:defRPr>
            </a:pPr>
            <a:r>
              <a:rPr sz="1725" b="1">
                <a:solidFill>
                  <a:srgbClr val="078EAE"/>
                </a:solidFill>
              </a:rPr>
              <a:t>지도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DA712C-651A-4B47-8932-882A2A66DDE5}"/>
              </a:ext>
            </a:extLst>
          </p:cNvPr>
          <p:cNvSpPr>
            <a:spLocks noGrp="1"/>
          </p:cNvSpPr>
          <p:nvPr/>
        </p:nvSpPr>
        <p:spPr>
          <a:xfrm>
            <a:off x="1104900" y="2590800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5B7386"/>
                </a:solidFill>
              </a:defRPr>
            </a:pPr>
            <a:r>
              <a:rPr sz="1350" b="0">
                <a:solidFill>
                  <a:srgbClr val="5B7386"/>
                </a:solidFill>
              </a:rPr>
              <a:t>해수욕장과 주변 렌탈샵 위치를 동시에 표시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E02872D-8A13-4C32-9694-5D482F3AE9BA}"/>
              </a:ext>
            </a:extLst>
          </p:cNvPr>
          <p:cNvSpPr>
            <a:spLocks noGrp="1"/>
          </p:cNvSpPr>
          <p:nvPr/>
        </p:nvSpPr>
        <p:spPr>
          <a:xfrm>
            <a:off x="6362700" y="1924050"/>
            <a:ext cx="49530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5304233-2292-4FA6-B47F-136B974F9F25}"/>
              </a:ext>
            </a:extLst>
          </p:cNvPr>
          <p:cNvSpPr>
            <a:spLocks noGrp="1"/>
          </p:cNvSpPr>
          <p:nvPr/>
        </p:nvSpPr>
        <p:spPr>
          <a:xfrm>
            <a:off x="6629400" y="216217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 b="1">
                <a:solidFill>
                  <a:srgbClr val="078EAE"/>
                </a:solidFill>
              </a:defRPr>
            </a:pPr>
            <a:r>
              <a:rPr sz="1725" b="1">
                <a:solidFill>
                  <a:srgbClr val="078EAE"/>
                </a:solidFill>
              </a:rPr>
              <a:t>이동 시간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B22437-B943-4CC1-B1BF-B6BE07EB6813}"/>
              </a:ext>
            </a:extLst>
          </p:cNvPr>
          <p:cNvSpPr>
            <a:spLocks noGrp="1"/>
          </p:cNvSpPr>
          <p:nvPr/>
        </p:nvSpPr>
        <p:spPr>
          <a:xfrm>
            <a:off x="6629400" y="2590800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5B7386"/>
                </a:solidFill>
              </a:defRPr>
            </a:pPr>
            <a:r>
              <a:rPr sz="1350" b="0">
                <a:solidFill>
                  <a:srgbClr val="5B7386"/>
                </a:solidFill>
              </a:rPr>
              <a:t>도보·대중교통·차량 기준 예상 시간 안내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58DB3B3-90E7-42AC-BBB7-A9531FAA16C1}"/>
              </a:ext>
            </a:extLst>
          </p:cNvPr>
          <p:cNvSpPr>
            <a:spLocks noGrp="1"/>
          </p:cNvSpPr>
          <p:nvPr/>
        </p:nvSpPr>
        <p:spPr>
          <a:xfrm>
            <a:off x="838200" y="3829050"/>
            <a:ext cx="49530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E1184E-574F-4BBC-BD61-5AD00D47E3BE}"/>
              </a:ext>
            </a:extLst>
          </p:cNvPr>
          <p:cNvSpPr>
            <a:spLocks noGrp="1"/>
          </p:cNvSpPr>
          <p:nvPr/>
        </p:nvSpPr>
        <p:spPr>
          <a:xfrm>
            <a:off x="1104900" y="406717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 b="1">
                <a:solidFill>
                  <a:srgbClr val="078EAE"/>
                </a:solidFill>
              </a:defRPr>
            </a:pPr>
            <a:r>
              <a:rPr sz="1725" b="1">
                <a:solidFill>
                  <a:srgbClr val="078EAE"/>
                </a:solidFill>
              </a:rPr>
              <a:t>현장 상태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3F344F-18A1-4D88-9E49-64F744F2478C}"/>
              </a:ext>
            </a:extLst>
          </p:cNvPr>
          <p:cNvSpPr>
            <a:spLocks noGrp="1"/>
          </p:cNvSpPr>
          <p:nvPr/>
        </p:nvSpPr>
        <p:spPr>
          <a:xfrm>
            <a:off x="1104900" y="4495800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5B7386"/>
                </a:solidFill>
              </a:defRPr>
            </a:pPr>
            <a:r>
              <a:rPr sz="1350" b="0">
                <a:solidFill>
                  <a:srgbClr val="5B7386"/>
                </a:solidFill>
              </a:rPr>
              <a:t>파도·풍속·수온·오늘의 상태 요약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36C157A-B51C-4626-AD56-F96941158248}"/>
              </a:ext>
            </a:extLst>
          </p:cNvPr>
          <p:cNvSpPr>
            <a:spLocks noGrp="1"/>
          </p:cNvSpPr>
          <p:nvPr/>
        </p:nvSpPr>
        <p:spPr>
          <a:xfrm>
            <a:off x="6362700" y="3829050"/>
            <a:ext cx="49530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3C7276-3C30-4D42-816C-47D264E73649}"/>
              </a:ext>
            </a:extLst>
          </p:cNvPr>
          <p:cNvSpPr>
            <a:spLocks noGrp="1"/>
          </p:cNvSpPr>
          <p:nvPr/>
        </p:nvSpPr>
        <p:spPr>
          <a:xfrm>
            <a:off x="6629400" y="406717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 b="1">
                <a:solidFill>
                  <a:srgbClr val="078EAE"/>
                </a:solidFill>
              </a:defRPr>
            </a:pPr>
            <a:r>
              <a:rPr sz="1725" b="1">
                <a:solidFill>
                  <a:srgbClr val="078EAE"/>
                </a:solidFill>
              </a:rPr>
              <a:t>렌탈샵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D48D56C-54AC-4EF1-8DFD-4C0BC6A7EC48}"/>
              </a:ext>
            </a:extLst>
          </p:cNvPr>
          <p:cNvSpPr>
            <a:spLocks noGrp="1"/>
          </p:cNvSpPr>
          <p:nvPr/>
        </p:nvSpPr>
        <p:spPr>
          <a:xfrm>
            <a:off x="6629400" y="4495800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5B7386"/>
                </a:solidFill>
              </a:defRPr>
            </a:pPr>
            <a:r>
              <a:rPr sz="1350" b="0">
                <a:solidFill>
                  <a:srgbClr val="5B7386"/>
                </a:solidFill>
              </a:rPr>
              <a:t>지점별 렌탈샵 목록과 위치를 별도 확인</a:t>
            </a:r>
          </a:p>
        </p:txBody>
      </p:sp>
    </p:spTree>
    <p:extLst>
      <p:ext uri="{BB962C8B-B14F-4D97-AF65-F5344CB8AC3E}">
        <p14:creationId xmlns:p14="http://schemas.microsoft.com/office/powerpoint/2010/main" val="491470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5DE1B1BC-298D-4DFD-995E-20F0A2CBBD4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078EAE"/>
                </a:solidFill>
              </a:defRPr>
            </a:pPr>
            <a:r>
              <a:rPr sz="1050" b="1">
                <a:solidFill>
                  <a:srgbClr val="078EAE"/>
                </a:solidFill>
              </a:rPr>
              <a:t>LIVE DATA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16BEF6-812E-4875-983C-F6A99165F1B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073B58"/>
                </a:solidFill>
              </a:defRPr>
            </a:pPr>
            <a:r>
              <a:rPr sz="2850" b="1" dirty="0" err="1">
                <a:solidFill>
                  <a:srgbClr val="073B58"/>
                </a:solidFill>
              </a:rPr>
              <a:t>조건은</a:t>
            </a:r>
            <a:r>
              <a:rPr sz="2850" b="1" dirty="0">
                <a:solidFill>
                  <a:srgbClr val="073B58"/>
                </a:solidFill>
              </a:rPr>
              <a:t> </a:t>
            </a:r>
            <a:r>
              <a:rPr sz="2850" b="1" dirty="0" err="1">
                <a:solidFill>
                  <a:srgbClr val="073B58"/>
                </a:solidFill>
              </a:rPr>
              <a:t>계속</a:t>
            </a:r>
            <a:r>
              <a:rPr sz="2850" b="1" dirty="0">
                <a:solidFill>
                  <a:srgbClr val="073B58"/>
                </a:solidFill>
              </a:rPr>
              <a:t> </a:t>
            </a:r>
            <a:r>
              <a:rPr sz="2850" b="1" dirty="0" err="1">
                <a:solidFill>
                  <a:srgbClr val="073B58"/>
                </a:solidFill>
              </a:rPr>
              <a:t>바뀌므로</a:t>
            </a:r>
            <a:r>
              <a:rPr sz="2850" b="1" dirty="0">
                <a:solidFill>
                  <a:srgbClr val="073B58"/>
                </a:solidFill>
              </a:rPr>
              <a:t>, </a:t>
            </a:r>
            <a:r>
              <a:rPr sz="2850" b="1" dirty="0" err="1">
                <a:solidFill>
                  <a:srgbClr val="073B58"/>
                </a:solidFill>
              </a:rPr>
              <a:t>추천도도</a:t>
            </a:r>
            <a:r>
              <a:rPr sz="2850" b="1" dirty="0">
                <a:solidFill>
                  <a:srgbClr val="073B58"/>
                </a:solidFill>
              </a:rPr>
              <a:t> </a:t>
            </a:r>
            <a:r>
              <a:rPr sz="2850" b="1" dirty="0" err="1">
                <a:solidFill>
                  <a:srgbClr val="073B58"/>
                </a:solidFill>
              </a:rPr>
              <a:t>함께</a:t>
            </a:r>
            <a:r>
              <a:rPr sz="2850" b="1" dirty="0">
                <a:solidFill>
                  <a:srgbClr val="073B58"/>
                </a:solidFill>
              </a:rPr>
              <a:t> 갱</a:t>
            </a:r>
            <a:r>
              <a:rPr lang="ko-KR" altLang="en-US" sz="2850" b="1" dirty="0">
                <a:solidFill>
                  <a:srgbClr val="073B58"/>
                </a:solidFill>
              </a:rPr>
              <a:t>신</a:t>
            </a:r>
            <a:endParaRPr sz="2850" b="1" dirty="0">
              <a:solidFill>
                <a:srgbClr val="073B58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3F5E771-C8E1-405E-9053-927EDA1D5B71}"/>
              </a:ext>
            </a:extLst>
          </p:cNvPr>
          <p:cNvSpPr>
            <a:spLocks noGrp="1"/>
          </p:cNvSpPr>
          <p:nvPr/>
        </p:nvSpPr>
        <p:spPr>
          <a:xfrm>
            <a:off x="9906000" y="4953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5B7386"/>
                </a:solidFill>
              </a:defRPr>
            </a:pPr>
            <a:r>
              <a:rPr sz="900" b="1">
                <a:solidFill>
                  <a:srgbClr val="5B7386"/>
                </a:solidFill>
              </a:rPr>
              <a:t>SEA PICK  |  06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A4AC8F5-4E07-4B96-8871-34BFB8C4567D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4953000" cy="3162300"/>
          </a:xfrm>
          <a:prstGeom prst="roundRect">
            <a:avLst>
              <a:gd name="adj" fmla="val 5422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1B117A-775C-4BED-ADFA-9C8AFD15D940}"/>
              </a:ext>
            </a:extLst>
          </p:cNvPr>
          <p:cNvSpPr>
            <a:spLocks noGrp="1"/>
          </p:cNvSpPr>
          <p:nvPr/>
        </p:nvSpPr>
        <p:spPr>
          <a:xfrm>
            <a:off x="1104900" y="22098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100" b="1">
                <a:solidFill>
                  <a:srgbClr val="073B58"/>
                </a:solidFill>
              </a:defRPr>
            </a:pPr>
            <a:r>
              <a:rPr sz="2100" b="1">
                <a:solidFill>
                  <a:srgbClr val="073B58"/>
                </a:solidFill>
              </a:rPr>
              <a:t>실시간 적합도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E1DEED1-F69E-4578-B0F9-E470DECE2F8A}"/>
              </a:ext>
            </a:extLst>
          </p:cNvPr>
          <p:cNvSpPr>
            <a:spLocks noGrp="1"/>
          </p:cNvSpPr>
          <p:nvPr/>
        </p:nvSpPr>
        <p:spPr>
          <a:xfrm>
            <a:off x="1104900" y="27717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0">
                <a:solidFill>
                  <a:srgbClr val="5B7386"/>
                </a:solidFill>
              </a:defRPr>
            </a:pPr>
            <a:r>
              <a:rPr sz="1500" b="0">
                <a:solidFill>
                  <a:srgbClr val="5B7386"/>
                </a:solidFill>
              </a:rPr>
              <a:t>풍속  ·  강수량  ·  날씨 코드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7B029C6-6C4D-47D3-B8F8-9955A3AD72CC}"/>
              </a:ext>
            </a:extLst>
          </p:cNvPr>
          <p:cNvSpPr>
            <a:spLocks noGrp="1"/>
          </p:cNvSpPr>
          <p:nvPr/>
        </p:nvSpPr>
        <p:spPr>
          <a:xfrm>
            <a:off x="1104900" y="3333750"/>
            <a:ext cx="3714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1">
                <a:solidFill>
                  <a:srgbClr val="078EAE"/>
                </a:solidFill>
              </a:defRPr>
            </a:pPr>
            <a:r>
              <a:rPr sz="1800" b="1" dirty="0" err="1">
                <a:solidFill>
                  <a:srgbClr val="078EAE"/>
                </a:solidFill>
              </a:rPr>
              <a:t>현재</a:t>
            </a:r>
            <a:r>
              <a:rPr sz="1800" b="1" dirty="0">
                <a:solidFill>
                  <a:srgbClr val="078EAE"/>
                </a:solidFill>
              </a:rPr>
              <a:t> </a:t>
            </a:r>
            <a:r>
              <a:rPr sz="1800" b="1" dirty="0" err="1">
                <a:solidFill>
                  <a:srgbClr val="078EAE"/>
                </a:solidFill>
              </a:rPr>
              <a:t>기상</a:t>
            </a:r>
            <a:r>
              <a:rPr sz="1800" b="1" dirty="0">
                <a:solidFill>
                  <a:srgbClr val="078EAE"/>
                </a:solidFill>
              </a:rPr>
              <a:t> </a:t>
            </a:r>
            <a:r>
              <a:rPr sz="1800" b="1" dirty="0" err="1">
                <a:solidFill>
                  <a:srgbClr val="078EAE"/>
                </a:solidFill>
              </a:rPr>
              <a:t>데이터를</a:t>
            </a:r>
            <a:r>
              <a:rPr sz="1800" b="1" dirty="0">
                <a:solidFill>
                  <a:srgbClr val="078EAE"/>
                </a:solidFill>
              </a:rPr>
              <a:t> </a:t>
            </a:r>
            <a:r>
              <a:rPr sz="1800" b="1" dirty="0" err="1">
                <a:solidFill>
                  <a:srgbClr val="078EAE"/>
                </a:solidFill>
              </a:rPr>
              <a:t>바탕으로</a:t>
            </a:r>
            <a:endParaRPr sz="1800" b="1" dirty="0">
              <a:solidFill>
                <a:srgbClr val="078EAE"/>
              </a:solidFill>
            </a:endParaRPr>
          </a:p>
          <a:p>
            <a:pPr>
              <a:defRPr sz="1800" b="1">
                <a:solidFill>
                  <a:srgbClr val="078EAE"/>
                </a:solidFill>
              </a:defRPr>
            </a:pPr>
            <a:r>
              <a:rPr sz="1800" b="1" dirty="0">
                <a:solidFill>
                  <a:srgbClr val="078EAE"/>
                </a:solidFill>
              </a:rPr>
              <a:t>각 </a:t>
            </a:r>
            <a:r>
              <a:rPr sz="1800" b="1" dirty="0" err="1">
                <a:solidFill>
                  <a:srgbClr val="078EAE"/>
                </a:solidFill>
              </a:rPr>
              <a:t>해수욕장별</a:t>
            </a:r>
            <a:r>
              <a:rPr sz="1800" b="1" dirty="0">
                <a:solidFill>
                  <a:srgbClr val="078EAE"/>
                </a:solidFill>
              </a:rPr>
              <a:t> </a:t>
            </a:r>
            <a:r>
              <a:rPr sz="1800" b="1" dirty="0" err="1">
                <a:solidFill>
                  <a:srgbClr val="078EAE"/>
                </a:solidFill>
              </a:rPr>
              <a:t>활동</a:t>
            </a:r>
            <a:r>
              <a:rPr sz="1800" b="1" dirty="0">
                <a:solidFill>
                  <a:srgbClr val="078EAE"/>
                </a:solidFill>
              </a:rPr>
              <a:t> </a:t>
            </a:r>
            <a:r>
              <a:rPr sz="1800" b="1" dirty="0" err="1">
                <a:solidFill>
                  <a:srgbClr val="078EAE"/>
                </a:solidFill>
              </a:rPr>
              <a:t>적합도를</a:t>
            </a:r>
            <a:r>
              <a:rPr sz="1800" b="1" dirty="0">
                <a:solidFill>
                  <a:srgbClr val="078EAE"/>
                </a:solidFill>
              </a:rPr>
              <a:t> </a:t>
            </a:r>
            <a:r>
              <a:rPr sz="1800" b="1" dirty="0" err="1">
                <a:solidFill>
                  <a:srgbClr val="078EAE"/>
                </a:solidFill>
              </a:rPr>
              <a:t>계산</a:t>
            </a:r>
            <a:endParaRPr sz="1800" b="1" dirty="0">
              <a:solidFill>
                <a:srgbClr val="078EAE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CE057CC-B354-4FA8-9B88-0824A4D75B1C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4953000" cy="3162300"/>
          </a:xfrm>
          <a:prstGeom prst="roundRect">
            <a:avLst>
              <a:gd name="adj" fmla="val 5422"/>
            </a:avLst>
          </a:prstGeom>
          <a:solidFill>
            <a:srgbClr val="063A60"/>
          </a:solidFill>
          <a:ln w="0">
            <a:solidFill>
              <a:srgbClr val="063A6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C19DF1-B496-44C7-9B69-E56F298696DA}"/>
              </a:ext>
            </a:extLst>
          </p:cNvPr>
          <p:cNvSpPr>
            <a:spLocks noGrp="1"/>
          </p:cNvSpPr>
          <p:nvPr/>
        </p:nvSpPr>
        <p:spPr>
          <a:xfrm>
            <a:off x="6724650" y="22098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실시간 혼잡도 추정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52175D4-B72D-4D26-963D-0F9CE9D7ECD0}"/>
              </a:ext>
            </a:extLst>
          </p:cNvPr>
          <p:cNvSpPr>
            <a:spLocks noGrp="1"/>
          </p:cNvSpPr>
          <p:nvPr/>
        </p:nvSpPr>
        <p:spPr>
          <a:xfrm>
            <a:off x="6724650" y="27717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0">
                <a:solidFill>
                  <a:srgbClr val="D8F5F6"/>
                </a:solidFill>
              </a:defRPr>
            </a:pPr>
            <a:r>
              <a:rPr sz="1500" b="0">
                <a:solidFill>
                  <a:srgbClr val="D8F5F6"/>
                </a:solidFill>
              </a:rPr>
              <a:t>현재 시간  ·  주말 여부  ·  날씨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524FDF-E9EF-4084-8E06-A9030E46CDB9}"/>
              </a:ext>
            </a:extLst>
          </p:cNvPr>
          <p:cNvSpPr>
            <a:spLocks noGrp="1"/>
          </p:cNvSpPr>
          <p:nvPr/>
        </p:nvSpPr>
        <p:spPr>
          <a:xfrm>
            <a:off x="6724650" y="3333750"/>
            <a:ext cx="3905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9DEFF0"/>
                </a:solidFill>
              </a:defRPr>
            </a:pPr>
            <a:r>
              <a:rPr sz="1650" b="1" dirty="0" err="1">
                <a:solidFill>
                  <a:srgbClr val="9DEFF0"/>
                </a:solidFill>
              </a:rPr>
              <a:t>공개된</a:t>
            </a:r>
            <a:r>
              <a:rPr sz="1650" b="1" dirty="0">
                <a:solidFill>
                  <a:srgbClr val="9DEFF0"/>
                </a:solidFill>
              </a:rPr>
              <a:t> </a:t>
            </a:r>
            <a:r>
              <a:rPr sz="1650" b="1" dirty="0" err="1">
                <a:solidFill>
                  <a:srgbClr val="9DEFF0"/>
                </a:solidFill>
              </a:rPr>
              <a:t>실제</a:t>
            </a:r>
            <a:r>
              <a:rPr sz="1650" b="1" dirty="0">
                <a:solidFill>
                  <a:srgbClr val="9DEFF0"/>
                </a:solidFill>
              </a:rPr>
              <a:t> </a:t>
            </a:r>
            <a:r>
              <a:rPr sz="1650" b="1" dirty="0" err="1">
                <a:solidFill>
                  <a:srgbClr val="9DEFF0"/>
                </a:solidFill>
              </a:rPr>
              <a:t>방문자</a:t>
            </a:r>
            <a:r>
              <a:rPr sz="1650" b="1" dirty="0">
                <a:solidFill>
                  <a:srgbClr val="9DEFF0"/>
                </a:solidFill>
              </a:rPr>
              <a:t> </a:t>
            </a:r>
            <a:r>
              <a:rPr sz="1650" b="1" dirty="0" err="1">
                <a:solidFill>
                  <a:srgbClr val="9DEFF0"/>
                </a:solidFill>
              </a:rPr>
              <a:t>수가</a:t>
            </a:r>
            <a:r>
              <a:rPr sz="1650" b="1" dirty="0">
                <a:solidFill>
                  <a:srgbClr val="9DEFF0"/>
                </a:solidFill>
              </a:rPr>
              <a:t> </a:t>
            </a:r>
            <a:r>
              <a:rPr sz="1650" b="1" dirty="0" err="1">
                <a:solidFill>
                  <a:srgbClr val="9DEFF0"/>
                </a:solidFill>
              </a:rPr>
              <a:t>없을</a:t>
            </a:r>
            <a:r>
              <a:rPr sz="1650" b="1" dirty="0">
                <a:solidFill>
                  <a:srgbClr val="9DEFF0"/>
                </a:solidFill>
              </a:rPr>
              <a:t> </a:t>
            </a:r>
            <a:r>
              <a:rPr sz="1650" b="1" dirty="0" err="1">
                <a:solidFill>
                  <a:srgbClr val="9DEFF0"/>
                </a:solidFill>
              </a:rPr>
              <a:t>때도</a:t>
            </a:r>
            <a:endParaRPr sz="1650" b="1" dirty="0">
              <a:solidFill>
                <a:srgbClr val="9DEFF0"/>
              </a:solidFill>
            </a:endParaRPr>
          </a:p>
          <a:p>
            <a:pPr>
              <a:defRPr sz="1650" b="1">
                <a:solidFill>
                  <a:srgbClr val="9DEFF0"/>
                </a:solidFill>
              </a:defRPr>
            </a:pPr>
            <a:r>
              <a:rPr sz="1650" b="1" dirty="0" err="1">
                <a:solidFill>
                  <a:srgbClr val="9DEFF0"/>
                </a:solidFill>
              </a:rPr>
              <a:t>추정치임을</a:t>
            </a:r>
            <a:r>
              <a:rPr sz="1650" b="1" dirty="0">
                <a:solidFill>
                  <a:srgbClr val="9DEFF0"/>
                </a:solidFill>
              </a:rPr>
              <a:t> </a:t>
            </a:r>
            <a:r>
              <a:rPr sz="1650" b="1" dirty="0" err="1">
                <a:solidFill>
                  <a:srgbClr val="9DEFF0"/>
                </a:solidFill>
              </a:rPr>
              <a:t>명확히</a:t>
            </a:r>
            <a:r>
              <a:rPr sz="1650" b="1" dirty="0">
                <a:solidFill>
                  <a:srgbClr val="9DEFF0"/>
                </a:solidFill>
              </a:rPr>
              <a:t> </a:t>
            </a:r>
            <a:r>
              <a:rPr sz="1650" b="1" dirty="0" err="1">
                <a:solidFill>
                  <a:srgbClr val="9DEFF0"/>
                </a:solidFill>
              </a:rPr>
              <a:t>표시해</a:t>
            </a:r>
            <a:r>
              <a:rPr sz="1650" b="1" dirty="0">
                <a:solidFill>
                  <a:srgbClr val="9DEFF0"/>
                </a:solidFill>
              </a:rPr>
              <a:t> </a:t>
            </a:r>
            <a:r>
              <a:rPr sz="1650" b="1" dirty="0" err="1">
                <a:solidFill>
                  <a:srgbClr val="9DEFF0"/>
                </a:solidFill>
              </a:rPr>
              <a:t>참고를</a:t>
            </a:r>
            <a:r>
              <a:rPr sz="1650" b="1" dirty="0">
                <a:solidFill>
                  <a:srgbClr val="9DEFF0"/>
                </a:solidFill>
              </a:rPr>
              <a:t> </a:t>
            </a:r>
            <a:r>
              <a:rPr sz="1650" b="1" dirty="0" err="1">
                <a:solidFill>
                  <a:srgbClr val="9DEFF0"/>
                </a:solidFill>
              </a:rPr>
              <a:t>돕습니다</a:t>
            </a:r>
            <a:endParaRPr sz="1650" b="1" dirty="0">
              <a:solidFill>
                <a:srgbClr val="9DEF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1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649D558-8FA7-4B0D-B083-728AA04EADA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078EAE"/>
                </a:solidFill>
              </a:defRPr>
            </a:pPr>
            <a:r>
              <a:rPr sz="1050" b="1">
                <a:solidFill>
                  <a:srgbClr val="078EAE"/>
                </a:solidFill>
              </a:rPr>
              <a:t>SAFETY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E064483-789B-4A50-8B45-9180F9833B9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073B58"/>
                </a:solidFill>
              </a:defRPr>
            </a:pPr>
            <a:r>
              <a:rPr sz="2850" b="1" dirty="0" err="1">
                <a:solidFill>
                  <a:srgbClr val="073B58"/>
                </a:solidFill>
              </a:rPr>
              <a:t>즐거움보다</a:t>
            </a:r>
            <a:r>
              <a:rPr sz="2850" b="1" dirty="0">
                <a:solidFill>
                  <a:srgbClr val="073B58"/>
                </a:solidFill>
              </a:rPr>
              <a:t> </a:t>
            </a:r>
            <a:r>
              <a:rPr sz="2850" b="1" dirty="0" err="1">
                <a:solidFill>
                  <a:srgbClr val="073B58"/>
                </a:solidFill>
              </a:rPr>
              <a:t>먼저</a:t>
            </a:r>
            <a:r>
              <a:rPr sz="2850" b="1" dirty="0">
                <a:solidFill>
                  <a:srgbClr val="073B58"/>
                </a:solidFill>
              </a:rPr>
              <a:t>, </a:t>
            </a:r>
            <a:r>
              <a:rPr sz="2850" b="1" dirty="0" err="1">
                <a:solidFill>
                  <a:srgbClr val="073B58"/>
                </a:solidFill>
              </a:rPr>
              <a:t>안전을</a:t>
            </a:r>
            <a:r>
              <a:rPr sz="2850" b="1" dirty="0">
                <a:solidFill>
                  <a:srgbClr val="073B58"/>
                </a:solidFill>
              </a:rPr>
              <a:t> </a:t>
            </a:r>
            <a:r>
              <a:rPr sz="2850" b="1" dirty="0" err="1">
                <a:solidFill>
                  <a:srgbClr val="073B58"/>
                </a:solidFill>
              </a:rPr>
              <a:t>확인</a:t>
            </a:r>
            <a:endParaRPr lang="ko-KR" altLang="en-US" sz="2850" b="1" dirty="0">
              <a:solidFill>
                <a:srgbClr val="073B58"/>
              </a:solidFill>
            </a:endParaRPr>
          </a:p>
          <a:p>
            <a:pPr>
              <a:defRPr sz="2850" b="1">
                <a:solidFill>
                  <a:srgbClr val="073B58"/>
                </a:solidFill>
              </a:defRPr>
            </a:pPr>
            <a:endParaRPr lang="ko-KR" altLang="en-US" sz="2850" b="1" dirty="0">
              <a:solidFill>
                <a:srgbClr val="073B58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FC452C9-39B1-4716-A696-72456F56A735}"/>
              </a:ext>
            </a:extLst>
          </p:cNvPr>
          <p:cNvSpPr>
            <a:spLocks noGrp="1"/>
          </p:cNvSpPr>
          <p:nvPr/>
        </p:nvSpPr>
        <p:spPr>
          <a:xfrm>
            <a:off x="9906000" y="4953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5B7386"/>
                </a:solidFill>
              </a:defRPr>
            </a:pPr>
            <a:r>
              <a:rPr sz="900" b="1">
                <a:solidFill>
                  <a:srgbClr val="5B7386"/>
                </a:solidFill>
              </a:rPr>
              <a:t>SEA PICK  |  07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6C3051-80B0-4809-B276-9E5DBA1B0589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6286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475" b="1">
                <a:solidFill>
                  <a:srgbClr val="073B58"/>
                </a:solidFill>
              </a:defRPr>
            </a:pPr>
            <a:r>
              <a:rPr lang="ko-KR" altLang="en-US" sz="2475" b="1" dirty="0">
                <a:solidFill>
                  <a:srgbClr val="073B58"/>
                </a:solidFill>
              </a:rPr>
              <a:t>누구나 재밌게 풀 </a:t>
            </a:r>
            <a:r>
              <a:rPr lang="ko-KR" altLang="en-US" sz="2475" b="1" dirty="0" err="1">
                <a:solidFill>
                  <a:srgbClr val="073B58"/>
                </a:solidFill>
              </a:rPr>
              <a:t>수있는</a:t>
            </a:r>
            <a:r>
              <a:rPr lang="ko-KR" altLang="en-US" sz="2475" b="1" dirty="0">
                <a:solidFill>
                  <a:srgbClr val="073B58"/>
                </a:solidFill>
              </a:rPr>
              <a:t> 안전 퀴즈</a:t>
            </a:r>
            <a:endParaRPr sz="2475" b="1" dirty="0">
              <a:solidFill>
                <a:srgbClr val="073B58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B0738E3-77F6-43B7-B0BF-BCEBEDFBDA1A}"/>
              </a:ext>
            </a:extLst>
          </p:cNvPr>
          <p:cNvSpPr>
            <a:spLocks noGrp="1"/>
          </p:cNvSpPr>
          <p:nvPr/>
        </p:nvSpPr>
        <p:spPr>
          <a:xfrm>
            <a:off x="857250" y="3543300"/>
            <a:ext cx="508635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21A230-C872-459A-BBA9-D6E55C647BC2}"/>
              </a:ext>
            </a:extLst>
          </p:cNvPr>
          <p:cNvSpPr>
            <a:spLocks noGrp="1"/>
          </p:cNvSpPr>
          <p:nvPr/>
        </p:nvSpPr>
        <p:spPr>
          <a:xfrm>
            <a:off x="1047750" y="3648075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078EAE"/>
                </a:solidFill>
              </a:defRPr>
            </a:pPr>
            <a:r>
              <a:rPr sz="1500" b="1">
                <a:solidFill>
                  <a:srgbClr val="078EAE"/>
                </a:solidFill>
              </a:rPr>
              <a:t>O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C02833B-16C6-4597-AB09-EFB5D1C73960}"/>
              </a:ext>
            </a:extLst>
          </p:cNvPr>
          <p:cNvSpPr>
            <a:spLocks noGrp="1"/>
          </p:cNvSpPr>
          <p:nvPr/>
        </p:nvSpPr>
        <p:spPr>
          <a:xfrm>
            <a:off x="1571625" y="3629025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163F57"/>
                </a:solidFill>
              </a:defRPr>
            </a:pPr>
            <a:r>
              <a:rPr sz="1350" b="0">
                <a:solidFill>
                  <a:srgbClr val="163F57"/>
                </a:solidFill>
              </a:rPr>
              <a:t>기상 특보가 있으면 입수를 미룬다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67D547D-23B3-4485-84D9-506C0A361B34}"/>
              </a:ext>
            </a:extLst>
          </p:cNvPr>
          <p:cNvSpPr>
            <a:spLocks noGrp="1"/>
          </p:cNvSpPr>
          <p:nvPr/>
        </p:nvSpPr>
        <p:spPr>
          <a:xfrm>
            <a:off x="857250" y="4181475"/>
            <a:ext cx="508635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1506CDB-5B1A-42C4-ADD3-B8AA9BD6737E}"/>
              </a:ext>
            </a:extLst>
          </p:cNvPr>
          <p:cNvSpPr>
            <a:spLocks noGrp="1"/>
          </p:cNvSpPr>
          <p:nvPr/>
        </p:nvSpPr>
        <p:spPr>
          <a:xfrm>
            <a:off x="1047750" y="428625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078EAE"/>
                </a:solidFill>
              </a:defRPr>
            </a:pPr>
            <a:r>
              <a:rPr sz="1500" b="1">
                <a:solidFill>
                  <a:srgbClr val="078EAE"/>
                </a:solidFill>
              </a:rPr>
              <a:t>O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2E9F0D-A786-4F69-B016-66434307331F}"/>
              </a:ext>
            </a:extLst>
          </p:cNvPr>
          <p:cNvSpPr>
            <a:spLocks noGrp="1"/>
          </p:cNvSpPr>
          <p:nvPr/>
        </p:nvSpPr>
        <p:spPr>
          <a:xfrm>
            <a:off x="1571625" y="42672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163F57"/>
                </a:solidFill>
              </a:defRPr>
            </a:pPr>
            <a:r>
              <a:rPr sz="1350" b="0">
                <a:solidFill>
                  <a:srgbClr val="163F57"/>
                </a:solidFill>
              </a:rPr>
              <a:t>구명조끼는 출발부터 복귀까지 착용한다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665D655-D5BD-481A-B486-440DC75859A9}"/>
              </a:ext>
            </a:extLst>
          </p:cNvPr>
          <p:cNvSpPr>
            <a:spLocks noGrp="1"/>
          </p:cNvSpPr>
          <p:nvPr/>
        </p:nvSpPr>
        <p:spPr>
          <a:xfrm>
            <a:off x="857250" y="4819650"/>
            <a:ext cx="508635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4C8E3E-FD52-48EC-9E6D-6065BA0B5492}"/>
              </a:ext>
            </a:extLst>
          </p:cNvPr>
          <p:cNvSpPr>
            <a:spLocks noGrp="1"/>
          </p:cNvSpPr>
          <p:nvPr/>
        </p:nvSpPr>
        <p:spPr>
          <a:xfrm>
            <a:off x="1047750" y="4924425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078EAE"/>
                </a:solidFill>
              </a:defRPr>
            </a:pPr>
            <a:r>
              <a:rPr sz="1500" b="1">
                <a:solidFill>
                  <a:srgbClr val="078EAE"/>
                </a:solidFill>
              </a:rPr>
              <a:t>O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E97C593-AF5B-45DD-BC28-9B7EE045E9C3}"/>
              </a:ext>
            </a:extLst>
          </p:cNvPr>
          <p:cNvSpPr>
            <a:spLocks noGrp="1"/>
          </p:cNvSpPr>
          <p:nvPr/>
        </p:nvSpPr>
        <p:spPr>
          <a:xfrm>
            <a:off x="1571625" y="4905375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163F57"/>
                </a:solidFill>
              </a:defRPr>
            </a:pPr>
            <a:r>
              <a:rPr sz="1350" b="0">
                <a:solidFill>
                  <a:srgbClr val="163F57"/>
                </a:solidFill>
              </a:rPr>
              <a:t>해가 지기 전에는 물에서 나온다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417B11-3A84-4732-82E2-7540F1D11551}"/>
              </a:ext>
            </a:extLst>
          </p:cNvPr>
          <p:cNvSpPr>
            <a:spLocks noGrp="1"/>
          </p:cNvSpPr>
          <p:nvPr/>
        </p:nvSpPr>
        <p:spPr>
          <a:xfrm>
            <a:off x="685800" y="616795"/>
            <a:ext cx="4702513" cy="2574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078EAE"/>
                </a:solidFill>
              </a:defRPr>
            </a:pPr>
            <a:r>
              <a:rPr lang="ko-KR" altLang="en-US" sz="1875" b="1" dirty="0">
                <a:solidFill>
                  <a:srgbClr val="078EAE"/>
                </a:solidFill>
              </a:rPr>
              <a:t>안전 퀴즈 </a:t>
            </a:r>
            <a:r>
              <a:rPr lang="en-US" altLang="ko-KR" sz="1875" b="1" dirty="0">
                <a:solidFill>
                  <a:srgbClr val="078EAE"/>
                </a:solidFill>
              </a:rPr>
              <a:t>· </a:t>
            </a:r>
            <a:r>
              <a:rPr lang="ko-KR" altLang="en-US" sz="1875" b="1" dirty="0">
                <a:solidFill>
                  <a:srgbClr val="078EAE"/>
                </a:solidFill>
              </a:rPr>
              <a:t>활동별 주의사항 </a:t>
            </a:r>
            <a:r>
              <a:rPr lang="en-US" altLang="ko-KR" sz="1875" b="1" dirty="0">
                <a:solidFill>
                  <a:srgbClr val="078EAE"/>
                </a:solidFill>
              </a:rPr>
              <a:t>· </a:t>
            </a:r>
            <a:r>
              <a:rPr lang="ko-KR" altLang="en-US" sz="1875" b="1" dirty="0">
                <a:solidFill>
                  <a:srgbClr val="078EAE"/>
                </a:solidFill>
              </a:rPr>
              <a:t>현장 상태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E2AE17E-33F0-7B40-18A7-76CB79FF7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522" y="2542769"/>
            <a:ext cx="4109733" cy="11053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13DDE3D-8E3B-D734-CD7D-A94ED8E7A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521" y="3853573"/>
            <a:ext cx="4109733" cy="104774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CB543D4-782C-DE32-A9A3-33A312EAC6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521" y="5106821"/>
            <a:ext cx="4109733" cy="100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00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B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원호 5">
            <a:extLst>
              <a:ext uri="{FF2B5EF4-FFF2-40B4-BE49-F238E27FC236}">
                <a16:creationId xmlns:a16="http://schemas.microsoft.com/office/drawing/2014/main" id="{1CD082DA-C220-439C-BDB7-CBD2B4998686}"/>
              </a:ext>
            </a:extLst>
          </p:cNvPr>
          <p:cNvSpPr>
            <a:spLocks noGrp="1"/>
          </p:cNvSpPr>
          <p:nvPr/>
        </p:nvSpPr>
        <p:spPr>
          <a:xfrm rot="480000">
            <a:off x="7620000" y="4095750"/>
            <a:ext cx="4953000" cy="1714500"/>
          </a:xfrm>
          <a:prstGeom prst="arc">
            <a:avLst>
              <a:gd name="adj1" fmla="val 16200000"/>
              <a:gd name="adj2" fmla="val 21533230"/>
            </a:avLst>
          </a:prstGeom>
          <a:noFill/>
          <a:ln w="38100">
            <a:solidFill>
              <a:srgbClr val="7EDCE3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12ABF85-BF3C-41C7-9D2A-04CEBE6B1B6D}"/>
              </a:ext>
            </a:extLst>
          </p:cNvPr>
          <p:cNvSpPr>
            <a:spLocks noGrp="1"/>
          </p:cNvSpPr>
          <p:nvPr/>
        </p:nvSpPr>
        <p:spPr>
          <a:xfrm>
            <a:off x="742950" y="95250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9DEFF0"/>
                </a:solidFill>
              </a:defRPr>
            </a:pPr>
            <a:r>
              <a:rPr sz="2850" b="1">
                <a:solidFill>
                  <a:srgbClr val="9DEFF0"/>
                </a:solidFill>
              </a:rPr>
              <a:t>SEA PICK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87946D1-4427-4AD2-8BDD-D001F41FDFCE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6762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750" b="1">
                <a:solidFill>
                  <a:srgbClr val="FFFFFF"/>
                </a:solidFill>
              </a:defRPr>
            </a:pPr>
            <a:r>
              <a:rPr sz="3750" b="1" dirty="0" err="1">
                <a:solidFill>
                  <a:srgbClr val="FFFFFF"/>
                </a:solidFill>
              </a:rPr>
              <a:t>바다를</a:t>
            </a:r>
            <a:r>
              <a:rPr sz="3750" b="1" dirty="0">
                <a:solidFill>
                  <a:srgbClr val="FFFFFF"/>
                </a:solidFill>
              </a:rPr>
              <a:t> </a:t>
            </a:r>
            <a:r>
              <a:rPr sz="3750" b="1" dirty="0" err="1">
                <a:solidFill>
                  <a:srgbClr val="FFFFFF"/>
                </a:solidFill>
              </a:rPr>
              <a:t>고르는</a:t>
            </a:r>
            <a:r>
              <a:rPr sz="3750" b="1" dirty="0">
                <a:solidFill>
                  <a:srgbClr val="FFFFFF"/>
                </a:solidFill>
              </a:rPr>
              <a:t> </a:t>
            </a:r>
            <a:r>
              <a:rPr sz="3750" b="1" dirty="0" err="1">
                <a:solidFill>
                  <a:srgbClr val="FFFFFF"/>
                </a:solidFill>
              </a:rPr>
              <a:t>순간부터</a:t>
            </a:r>
            <a:endParaRPr sz="3750" b="1" dirty="0">
              <a:solidFill>
                <a:srgbClr val="FFFFFF"/>
              </a:solidFill>
            </a:endParaRPr>
          </a:p>
          <a:p>
            <a:pPr>
              <a:defRPr sz="3750" b="1">
                <a:solidFill>
                  <a:srgbClr val="FFFFFF"/>
                </a:solidFill>
              </a:defRPr>
            </a:pPr>
            <a:r>
              <a:rPr sz="3750" b="1" dirty="0" err="1">
                <a:solidFill>
                  <a:srgbClr val="FFFFFF"/>
                </a:solidFill>
              </a:rPr>
              <a:t>안전하게</a:t>
            </a:r>
            <a:r>
              <a:rPr sz="3750" b="1" dirty="0">
                <a:solidFill>
                  <a:srgbClr val="FFFFFF"/>
                </a:solidFill>
              </a:rPr>
              <a:t> </a:t>
            </a:r>
            <a:r>
              <a:rPr sz="3750" b="1" dirty="0" err="1">
                <a:solidFill>
                  <a:srgbClr val="FFFFFF"/>
                </a:solidFill>
              </a:rPr>
              <a:t>즐기는</a:t>
            </a:r>
            <a:r>
              <a:rPr sz="3750" b="1" dirty="0">
                <a:solidFill>
                  <a:srgbClr val="FFFFFF"/>
                </a:solidFill>
              </a:rPr>
              <a:t> </a:t>
            </a:r>
            <a:r>
              <a:rPr sz="3750" b="1" dirty="0" err="1">
                <a:solidFill>
                  <a:srgbClr val="FFFFFF"/>
                </a:solidFill>
              </a:rPr>
              <a:t>순간까지</a:t>
            </a:r>
            <a:endParaRPr sz="3750" b="1" dirty="0">
              <a:solidFill>
                <a:srgbClr val="FFFFFF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8A6BAB-A65A-4CE9-8C42-229C1229CDF9}"/>
              </a:ext>
            </a:extLst>
          </p:cNvPr>
          <p:cNvSpPr>
            <a:spLocks noGrp="1"/>
          </p:cNvSpPr>
          <p:nvPr/>
        </p:nvSpPr>
        <p:spPr>
          <a:xfrm>
            <a:off x="781050" y="360045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950" b="0">
                <a:solidFill>
                  <a:srgbClr val="D6F4F5"/>
                </a:solidFill>
              </a:defRPr>
            </a:pPr>
            <a:r>
              <a:rPr sz="1950" b="0">
                <a:solidFill>
                  <a:srgbClr val="D6F4F5"/>
                </a:solidFill>
              </a:rPr>
              <a:t>실시간 정보 + 맞춤 추천 + 현장 편의시설</a:t>
            </a:r>
          </a:p>
          <a:p>
            <a:pPr>
              <a:defRPr sz="1950" b="0">
                <a:solidFill>
                  <a:srgbClr val="D6F4F5"/>
                </a:solidFill>
              </a:defRPr>
            </a:pPr>
            <a:r>
              <a:rPr sz="1950" b="0">
                <a:solidFill>
                  <a:srgbClr val="D6F4F5"/>
                </a:solidFill>
              </a:rPr>
              <a:t>= 더 쉬운 부산 해양 레저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9654AA-974E-4F1A-B30B-9572D1B0DD80}"/>
              </a:ext>
            </a:extLst>
          </p:cNvPr>
          <p:cNvSpPr>
            <a:spLocks noGrp="1"/>
          </p:cNvSpPr>
          <p:nvPr/>
        </p:nvSpPr>
        <p:spPr>
          <a:xfrm>
            <a:off x="781050" y="5276850"/>
            <a:ext cx="866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9DEFF0"/>
                </a:solidFill>
              </a:defRPr>
            </a:pPr>
            <a:endParaRPr sz="1350" b="1" dirty="0">
              <a:solidFill>
                <a:srgbClr val="9DEF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6387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Microsoft Office PowerPoint</Application>
  <DocSecurity>0</DocSecurity>
  <PresentationFormat>와이드스크린</PresentationFormat>
  <Paragraphs>86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안녕하세요</cp:lastModifiedBy>
  <cp:revision>1</cp:revision>
  <dcterms:created xsi:type="dcterms:W3CDTF">2026-08-07T02:41:04Z</dcterms:created>
  <dcterms:modified xsi:type="dcterms:W3CDTF">2026-08-07T03:39:50Z</dcterms:modified>
</cp:coreProperties>
</file>